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as a Shield" id="{aed85b41-8926-36e5-35cc-6033b2b7a68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mn-lt"/>
              </a:defRPr>
            </a:pPr>
            <a:r>
              <a:rPr sz="1200" b="0" i="0" u="none" strike="noStrike">
                <a:solidFill>
                  <a:srgbClr val="0B1F3A"/>
                </a:solidFill>
                <a:latin typeface="+mn-lt"/>
              </a:rPr>
              <a:t>Example: network traffic over time</a:t>
            </a:r>
          </a:p>
        </c:rich>
      </c:tx>
      <c:layout/>
      <c:overlay val="0"/>
    </c:title>
    <c:autoTitleDeleted val="0"/>
    <c:plotArea>
      <c:layout/>
      <c:lineChart>
        <c:varyColors val="0"/>
        <c:ser>
          <c:idx val="0"/>
          <c:order val="0"/>
          <c:tx>
            <c:strRef>
              <c:f>Sheet1!$B$1</c:f>
              <c:strCache>
                <c:ptCount val="1"/>
                <c:pt idx="0">
                  <c:v>Traffic</c:v>
                </c:pt>
              </c:strCache>
            </c:strRef>
          </c:tx>
          <c:spPr>
            <a:solidFill>
              <a:srgbClr val="0D9488"/>
            </a:solidFill>
            <a:ln w="38100" cap="flat">
              <a:solidFill>
                <a:srgbClr val="0D948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D9488"/>
              </a:solidFill>
              <a:ln w="9525" cap="flat">
                <a:solidFill>
                  <a:srgbClr val="0D9488"/>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20</c:v>
                </c:pt>
                <c:pt idx="1">
                  <c:v>22</c:v>
                </c:pt>
                <c:pt idx="2">
                  <c:v>21</c:v>
                </c:pt>
                <c:pt idx="3">
                  <c:v>23</c:v>
                </c:pt>
                <c:pt idx="4">
                  <c:v>22</c:v>
                </c:pt>
                <c:pt idx="5">
                  <c:v>85</c:v>
                </c:pt>
                <c:pt idx="6">
                  <c:v>24</c:v>
                </c:pt>
                <c:pt idx="7">
                  <c:v>22</c:v>
                </c:pt>
                <c:pt idx="8">
                  <c:v>21</c:v>
                </c:pt>
                <c:pt idx="9">
                  <c:v>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explain how Artificial Intelligence and Machine Learning help protect computer networks from cyber attacks. By the end, you will understand why modern security can no longer work without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security works like a list of known criminals. If an attacker is not on the list, the system lets them in. Attackers now change their methods daily, and humans cannot review every alert fast enough, so we need smarter, faster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the big idea of machines acting smart. Machine Learning is a part of AI where computers learn from examples, and Deep Learning is an advanced form of it. NLP helps the computer understand human language, which is very useful for catching fake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AI as a teacher who knows how every student normally behaves. If a quiet student suddenly starts doing something strange, the teacher notices. In the same way, UEBA spots unusual behavior, which helps catch hackers who use stolen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threat appears, every second counts. SOAR tools let AI take quick action automatically, like locking a door the moment an intruder is detected. This reduces damage and saves the security team a lot of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already used in tools we use every day. Email filters use it to block phishing, antivirus programs use it to catch new malware, and cloud platforms use it to watch for suspicious access. These are real, working examples of AI as a 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companies generate millions of log entries every day. A SIEM gathers them in one place, and AI helps find the real threats among the noise. Tools like CrowdStrike and Microsoft Sentinel are popular examples of this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magic, and attackers are also learning to fool it. If the training data is corrupted, the AI can make bad decisions. That is why skilled humans must always supervise and check what the AI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future, security will shift from reacting after an attack to predicting and preventing it. Networks may even repair themselves automatically. This is an exciting field, and students like us can build careers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AI acts as a smart, fast and always-alert shield for our networks, but it works best together with human experts. Thank you for listening. I am happy to answer any questions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822960"/>
            <a:ext cx="512064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_LAYOU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320040"/>
            <a:ext cx="8046720" cy="91440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822960"/>
            <a:ext cx="5120640" cy="1737360"/>
          </a:xfrm>
          <a:prstGeom prst="rect">
            <a:avLst/>
          </a:prstGeom>
          <a:noFill/>
          <a:ln/>
        </p:spPr>
        <p:txBody>
          <a:bodyPr wrap="square" lIns="0" tIns="0" rIns="0" bIns="0" rtlCol="0" anchor="t"/>
          <a:lstStyle/>
          <a:p>
            <a:pPr algn="l" indent="0" marL="0">
              <a:buNone/>
            </a:pPr>
            <a:r>
              <a:rPr lang="en-US" sz="3600" b="1" dirty="0">
                <a:solidFill>
                  <a:schemeClr val="bg1"/>
                </a:solidFill>
              </a:rPr>
              <a:t>AI as a Shield: How Machine Learning Protects Networks</a:t>
            </a:r>
            <a:endParaRPr lang="en-US" sz="3600" dirty="0"/>
          </a:p>
        </p:txBody>
      </p:sp>
      <p:sp>
        <p:nvSpPr>
          <p:cNvPr id="3" name="subtitle"/>
          <p:cNvSpPr txBox="1"/>
          <p:nvPr/>
        </p:nvSpPr>
        <p:spPr>
          <a:xfrm>
            <a:off x="548640" y="2697480"/>
            <a:ext cx="4937760" cy="640080"/>
          </a:xfrm>
          <a:prstGeom prst="rect">
            <a:avLst/>
          </a:prstGeom>
          <a:noFill/>
          <a:ln/>
        </p:spPr>
        <p:txBody>
          <a:bodyPr wrap="square" lIns="0" tIns="0" rIns="0" bIns="0" rtlCol="0" anchor="t"/>
          <a:lstStyle/>
          <a:p>
            <a:pPr indent="0" marL="0">
              <a:buNone/>
            </a:pPr>
            <a:r>
              <a:rPr lang="en-US" sz="1800" dirty="0">
                <a:solidFill>
                  <a:schemeClr val="accent6"/>
                </a:solidFill>
              </a:rPr>
              <a:t>Understanding how intelligent systems defend modern networks</a:t>
            </a:r>
            <a:endParaRPr lang="en-US" sz="1800" dirty="0"/>
          </a:p>
        </p:txBody>
      </p:sp>
      <p:sp>
        <p:nvSpPr>
          <p:cNvPr id="4" name="presenter details"/>
          <p:cNvSpPr txBox="1"/>
          <p:nvPr/>
        </p:nvSpPr>
        <p:spPr>
          <a:xfrm>
            <a:off x="548640" y="3520440"/>
            <a:ext cx="5120640" cy="109728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Presented by: </a:t>
            </a:r>
            <a:pPr indent="0" marL="0">
              <a:spcAft>
                <a:spcPts val="600"/>
              </a:spcAft>
              <a:buNone/>
            </a:pPr>
            <a:r>
              <a:rPr lang="en-US" sz="1400" dirty="0">
                <a:solidFill>
                  <a:schemeClr val="bg1"/>
                </a:solidFill>
              </a:rPr>
              <a:t>[Your Name] | [Roll No. / Enrollment No.]</a:t>
            </a:r>
            <a:endParaRPr lang="en-US" sz="1400" dirty="0"/>
          </a:p>
          <a:p>
            <a:pPr indent="0" marL="0">
              <a:spcAft>
                <a:spcPts val="600"/>
              </a:spcAft>
              <a:buNone/>
            </a:pPr>
            <a:r>
              <a:rPr lang="en-US" sz="1400" b="1" dirty="0">
                <a:solidFill>
                  <a:schemeClr val="bg1"/>
                </a:solidFill>
              </a:rPr>
              <a:t>Course: </a:t>
            </a:r>
            <a:pPr indent="0" marL="0">
              <a:spcAft>
                <a:spcPts val="600"/>
              </a:spcAft>
              <a:buNone/>
            </a:pPr>
            <a:r>
              <a:rPr lang="en-US" sz="1400" dirty="0">
                <a:solidFill>
                  <a:schemeClr val="bg1"/>
                </a:solidFill>
              </a:rPr>
              <a:t>1st Year, Information Technology | [Your University / College]</a:t>
            </a:r>
            <a:endParaRPr lang="en-US" sz="1400" dirty="0"/>
          </a:p>
          <a:p>
            <a:pPr indent="0" marL="0">
              <a:spcAft>
                <a:spcPts val="600"/>
              </a:spcAft>
              <a:buNone/>
            </a:pPr>
            <a:r>
              <a:rPr lang="en-US" sz="1400" b="1" dirty="0">
                <a:solidFill>
                  <a:schemeClr val="bg1"/>
                </a:solidFill>
              </a:rPr>
              <a:t>Date: </a:t>
            </a:r>
            <a:pPr indent="0" marL="0">
              <a:spcAft>
                <a:spcPts val="600"/>
              </a:spcAft>
              <a:buNone/>
            </a:pPr>
            <a:r>
              <a:rPr lang="en-US" sz="1400" dirty="0">
                <a:solidFill>
                  <a:schemeClr val="bg1"/>
                </a:solidFill>
              </a:rPr>
              <a:t>[Presentation Date]</a:t>
            </a:r>
            <a:endParaRPr lang="en-US" sz="1400" dirty="0"/>
          </a:p>
        </p:txBody>
      </p:sp>
      <p:sp>
        <p:nvSpPr>
          <p:cNvPr id="5" name="network link 1"/>
          <p:cNvSpPr/>
          <p:nvPr/>
        </p:nvSpPr>
        <p:spPr>
          <a:xfrm>
            <a:off x="6400800" y="822960"/>
            <a:ext cx="914400" cy="1737360"/>
          </a:xfrm>
          <a:prstGeom prst="line">
            <a:avLst/>
          </a:prstGeom>
          <a:noFill/>
          <a:ln w="12700">
            <a:solidFill>
              <a:schemeClr val="accent4"/>
            </a:solidFill>
            <a:prstDash val="solid"/>
          </a:ln>
        </p:spPr>
      </p:sp>
      <p:sp>
        <p:nvSpPr>
          <p:cNvPr id="6" name="network link 2"/>
          <p:cNvSpPr/>
          <p:nvPr/>
        </p:nvSpPr>
        <p:spPr>
          <a:xfrm flipH="1">
            <a:off x="7315200" y="1280160"/>
            <a:ext cx="1097280" cy="1280160"/>
          </a:xfrm>
          <a:prstGeom prst="line">
            <a:avLst/>
          </a:prstGeom>
          <a:noFill/>
          <a:ln w="12700">
            <a:solidFill>
              <a:schemeClr val="accent4"/>
            </a:solidFill>
            <a:prstDash val="solid"/>
          </a:ln>
        </p:spPr>
      </p:sp>
      <p:sp>
        <p:nvSpPr>
          <p:cNvPr id="7" name="network link 3"/>
          <p:cNvSpPr/>
          <p:nvPr/>
        </p:nvSpPr>
        <p:spPr>
          <a:xfrm flipV="1">
            <a:off x="6035040" y="2560320"/>
            <a:ext cx="1280160" cy="1737360"/>
          </a:xfrm>
          <a:prstGeom prst="line">
            <a:avLst/>
          </a:prstGeom>
          <a:noFill/>
          <a:ln w="12700">
            <a:solidFill>
              <a:schemeClr val="accent4"/>
            </a:solidFill>
            <a:prstDash val="solid"/>
          </a:ln>
        </p:spPr>
      </p:sp>
      <p:sp>
        <p:nvSpPr>
          <p:cNvPr id="8" name="network link 4"/>
          <p:cNvSpPr/>
          <p:nvPr/>
        </p:nvSpPr>
        <p:spPr>
          <a:xfrm flipH="1" flipV="1">
            <a:off x="7315200" y="2560320"/>
            <a:ext cx="914400" cy="1554480"/>
          </a:xfrm>
          <a:prstGeom prst="line">
            <a:avLst/>
          </a:prstGeom>
          <a:noFill/>
          <a:ln w="12700">
            <a:solidFill>
              <a:schemeClr val="accent4"/>
            </a:solidFill>
            <a:prstDash val="solid"/>
          </a:ln>
        </p:spPr>
      </p:sp>
      <p:sp>
        <p:nvSpPr>
          <p:cNvPr id="9" name="network link 5"/>
          <p:cNvSpPr/>
          <p:nvPr/>
        </p:nvSpPr>
        <p:spPr>
          <a:xfrm flipV="1">
            <a:off x="6675120" y="2560320"/>
            <a:ext cx="640080" cy="365760"/>
          </a:xfrm>
          <a:prstGeom prst="line">
            <a:avLst/>
          </a:prstGeom>
          <a:noFill/>
          <a:ln w="12700">
            <a:solidFill>
              <a:schemeClr val="accent4"/>
            </a:solidFill>
            <a:prstDash val="solid"/>
          </a:ln>
        </p:spPr>
      </p:sp>
      <p:sp>
        <p:nvSpPr>
          <p:cNvPr id="10" name="network link 6"/>
          <p:cNvSpPr/>
          <p:nvPr/>
        </p:nvSpPr>
        <p:spPr>
          <a:xfrm flipH="1" flipV="1">
            <a:off x="7315200" y="2560320"/>
            <a:ext cx="1188720" cy="182880"/>
          </a:xfrm>
          <a:prstGeom prst="line">
            <a:avLst/>
          </a:prstGeom>
          <a:noFill/>
          <a:ln w="12700">
            <a:solidFill>
              <a:schemeClr val="accent4"/>
            </a:solidFill>
            <a:prstDash val="solid"/>
          </a:ln>
        </p:spPr>
      </p:sp>
      <p:sp>
        <p:nvSpPr>
          <p:cNvPr id="11" name="network node 1"/>
          <p:cNvSpPr/>
          <p:nvPr/>
        </p:nvSpPr>
        <p:spPr>
          <a:xfrm>
            <a:off x="6327648" y="749808"/>
            <a:ext cx="146304" cy="146304"/>
          </a:xfrm>
          <a:prstGeom prst="ellipse">
            <a:avLst/>
          </a:prstGeom>
          <a:solidFill>
            <a:schemeClr val="accent4"/>
          </a:solidFill>
          <a:ln w="12700">
            <a:solidFill>
              <a:schemeClr val="accent4"/>
            </a:solidFill>
            <a:prstDash val="solid"/>
          </a:ln>
        </p:spPr>
      </p:sp>
      <p:sp>
        <p:nvSpPr>
          <p:cNvPr id="12" name="network node 2"/>
          <p:cNvSpPr/>
          <p:nvPr/>
        </p:nvSpPr>
        <p:spPr>
          <a:xfrm>
            <a:off x="8339328" y="1207008"/>
            <a:ext cx="146304" cy="146304"/>
          </a:xfrm>
          <a:prstGeom prst="ellipse">
            <a:avLst/>
          </a:prstGeom>
          <a:solidFill>
            <a:schemeClr val="accent4"/>
          </a:solidFill>
          <a:ln w="12700">
            <a:solidFill>
              <a:schemeClr val="accent4"/>
            </a:solidFill>
            <a:prstDash val="solid"/>
          </a:ln>
        </p:spPr>
      </p:sp>
      <p:sp>
        <p:nvSpPr>
          <p:cNvPr id="13" name="network node 3"/>
          <p:cNvSpPr/>
          <p:nvPr/>
        </p:nvSpPr>
        <p:spPr>
          <a:xfrm>
            <a:off x="5961888" y="4224528"/>
            <a:ext cx="146304" cy="146304"/>
          </a:xfrm>
          <a:prstGeom prst="ellipse">
            <a:avLst/>
          </a:prstGeom>
          <a:solidFill>
            <a:schemeClr val="accent4"/>
          </a:solidFill>
          <a:ln w="12700">
            <a:solidFill>
              <a:schemeClr val="accent4"/>
            </a:solidFill>
            <a:prstDash val="solid"/>
          </a:ln>
        </p:spPr>
      </p:sp>
      <p:sp>
        <p:nvSpPr>
          <p:cNvPr id="14" name="network node 4"/>
          <p:cNvSpPr/>
          <p:nvPr/>
        </p:nvSpPr>
        <p:spPr>
          <a:xfrm>
            <a:off x="8156448" y="4041648"/>
            <a:ext cx="146304" cy="146304"/>
          </a:xfrm>
          <a:prstGeom prst="ellipse">
            <a:avLst/>
          </a:prstGeom>
          <a:solidFill>
            <a:schemeClr val="accent4"/>
          </a:solidFill>
          <a:ln w="12700">
            <a:solidFill>
              <a:schemeClr val="accent4"/>
            </a:solidFill>
            <a:prstDash val="solid"/>
          </a:ln>
        </p:spPr>
      </p:sp>
      <p:sp>
        <p:nvSpPr>
          <p:cNvPr id="15" name="network node 5"/>
          <p:cNvSpPr/>
          <p:nvPr/>
        </p:nvSpPr>
        <p:spPr>
          <a:xfrm>
            <a:off x="6601968" y="2852928"/>
            <a:ext cx="146304" cy="146304"/>
          </a:xfrm>
          <a:prstGeom prst="ellipse">
            <a:avLst/>
          </a:prstGeom>
          <a:solidFill>
            <a:schemeClr val="accent4"/>
          </a:solidFill>
          <a:ln w="12700">
            <a:solidFill>
              <a:schemeClr val="accent4"/>
            </a:solidFill>
            <a:prstDash val="solid"/>
          </a:ln>
        </p:spPr>
      </p:sp>
      <p:sp>
        <p:nvSpPr>
          <p:cNvPr id="16" name="network node 6"/>
          <p:cNvSpPr/>
          <p:nvPr/>
        </p:nvSpPr>
        <p:spPr>
          <a:xfrm>
            <a:off x="8430768" y="2670048"/>
            <a:ext cx="146304" cy="146304"/>
          </a:xfrm>
          <a:prstGeom prst="ellipse">
            <a:avLst/>
          </a:prstGeom>
          <a:solidFill>
            <a:schemeClr val="accent4"/>
          </a:solidFill>
          <a:ln w="12700">
            <a:solidFill>
              <a:schemeClr val="accent4"/>
            </a:solidFill>
            <a:prstDash val="solid"/>
          </a:ln>
        </p:spPr>
      </p:sp>
      <p:sp>
        <p:nvSpPr>
          <p:cNvPr id="17" name="shield circle"/>
          <p:cNvSpPr/>
          <p:nvPr/>
        </p:nvSpPr>
        <p:spPr>
          <a:xfrm>
            <a:off x="6400800" y="1645920"/>
            <a:ext cx="1828800" cy="1828800"/>
          </a:xfrm>
          <a:prstGeom prst="ellipse">
            <a:avLst/>
          </a:prstGeom>
          <a:solidFill>
            <a:schemeClr val="accent1"/>
          </a:solidFill>
          <a:ln w="38100">
            <a:solidFill>
              <a:schemeClr val="accent6"/>
            </a:solidFill>
            <a:prstDash val="solid"/>
          </a:ln>
        </p:spPr>
      </p:sp>
      <p:pic>
        <p:nvPicPr>
          <p:cNvPr id="18" name="Image 0" descr="Shield icon">    </p:cNvPr>
          <p:cNvPicPr>
            <a:picLocks noChangeAspect="1"/>
          </p:cNvPicPr>
          <p:nvPr/>
        </p:nvPicPr>
        <p:blipFill>
          <a:blip r:embed="rId1"/>
          <a:stretch>
            <a:fillRect/>
          </a:stretch>
        </p:blipFill>
        <p:spPr>
          <a:xfrm>
            <a:off x="6812280" y="205740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The Need for AI: Limitations of Traditional Security</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Signature-based detection</a:t>
            </a:r>
            <a:pPr indent="0" marL="0">
              <a:buNone/>
            </a:pPr>
            <a:r>
              <a:rPr lang="en-US" sz="1600" dirty="0">
                <a:solidFill>
                  <a:schemeClr val="tx1"/>
                </a:solidFill>
              </a:rPr>
              <a:t> only catches threats that are already known</a:t>
            </a:r>
            <a:endParaRPr lang="en-US" sz="1600" dirty="0"/>
          </a:p>
          <a:p>
            <a:pPr marL="342900" indent="-342900">
              <a:spcAft>
                <a:spcPts val="1200"/>
              </a:spcAft>
              <a:buSzPct val="100000"/>
              <a:buChar char="•"/>
            </a:pPr>
            <a:r>
              <a:rPr lang="en-US" sz="1600" b="1" dirty="0">
                <a:solidFill>
                  <a:schemeClr val="tx1"/>
                </a:solidFill>
              </a:rPr>
              <a:t>Zero-day attacks</a:t>
            </a:r>
            <a:pPr indent="0" marL="0">
              <a:buNone/>
            </a:pPr>
            <a:r>
              <a:rPr lang="en-US" sz="1600" dirty="0">
                <a:solidFill>
                  <a:schemeClr val="tx1"/>
                </a:solidFill>
              </a:rPr>
              <a:t> are brand-new threats that old tools cannot recognize</a:t>
            </a:r>
            <a:endParaRPr lang="en-US" sz="1600" dirty="0"/>
          </a:p>
          <a:p>
            <a:pPr marL="342900" indent="-342900">
              <a:spcAft>
                <a:spcPts val="1200"/>
              </a:spcAft>
              <a:buSzPct val="100000"/>
              <a:buChar char="•"/>
            </a:pPr>
            <a:r>
              <a:rPr lang="en-US" sz="1600" b="1" dirty="0">
                <a:solidFill>
                  <a:schemeClr val="tx1"/>
                </a:solidFill>
              </a:rPr>
              <a:t>Alert overload:</a:t>
            </a:r>
            <a:pPr indent="0" marL="0">
              <a:buNone/>
            </a:pPr>
            <a:r>
              <a:rPr lang="en-US" sz="1600" dirty="0">
                <a:solidFill>
                  <a:schemeClr val="tx1"/>
                </a:solidFill>
              </a:rPr>
              <a:t> security teams receive thousands of alerts and cannot check them all</a:t>
            </a:r>
            <a:endParaRPr lang="en-US" sz="1600" dirty="0"/>
          </a:p>
          <a:p>
            <a:pPr marL="342900" indent="-342900">
              <a:spcAft>
                <a:spcPts val="1200"/>
              </a:spcAft>
              <a:buSzPct val="100000"/>
              <a:buChar char="•"/>
            </a:pPr>
            <a:r>
              <a:rPr lang="en-US" sz="1600" b="1" dirty="0">
                <a:solidFill>
                  <a:schemeClr val="tx1"/>
                </a:solidFill>
              </a:rPr>
              <a:t>Slow human response</a:t>
            </a:r>
            <a:pPr indent="0" marL="0">
              <a:buNone/>
            </a:pPr>
            <a:r>
              <a:rPr lang="en-US" sz="1600" dirty="0">
                <a:solidFill>
                  <a:schemeClr val="tx1"/>
                </a:solidFill>
              </a:rPr>
              <a:t> gives attackers time to cause damage</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incoming"/>
          <p:cNvSpPr/>
          <p:nvPr/>
        </p:nvSpPr>
        <p:spPr>
          <a:xfrm>
            <a:off x="5760720" y="1645920"/>
            <a:ext cx="2468880" cy="502920"/>
          </a:xfrm>
          <a:prstGeom prst="roundRect">
            <a:avLst>
              <a:gd name="adj" fmla="val 18182"/>
            </a:avLst>
          </a:prstGeom>
          <a:solidFill>
            <a:schemeClr val="tx2"/>
          </a:solidFill>
          <a:ln/>
        </p:spPr>
        <p:txBody>
          <a:bodyPr wrap="square" lIns="50800" tIns="50800" rIns="50800" bIns="50800" rtlCol="0" anchor="ctr"/>
          <a:lstStyle/>
          <a:p>
            <a:pPr algn="ctr" indent="0" marL="0">
              <a:buNone/>
            </a:pPr>
            <a:r>
              <a:rPr lang="en-US" sz="1300" b="1" dirty="0">
                <a:solidFill>
                  <a:schemeClr val="bg1"/>
                </a:solidFill>
              </a:rPr>
              <a:t>Incoming file or traffic</a:t>
            </a:r>
            <a:endParaRPr lang="en-US" sz="1300" dirty="0"/>
          </a:p>
        </p:txBody>
      </p:sp>
      <p:sp>
        <p:nvSpPr>
          <p:cNvPr id="6" name="arrow"/>
          <p:cNvSpPr/>
          <p:nvPr/>
        </p:nvSpPr>
        <p:spPr>
          <a:xfrm>
            <a:off x="6858000" y="2203704"/>
            <a:ext cx="274320" cy="201168"/>
          </a:xfrm>
          <a:prstGeom prst="downArrow">
            <a:avLst/>
          </a:prstGeom>
          <a:solidFill>
            <a:schemeClr val="accent1"/>
          </a:solidFill>
          <a:ln w="12700">
            <a:solidFill>
              <a:schemeClr val="accent1"/>
            </a:solidFill>
            <a:prstDash val="solid"/>
          </a:ln>
        </p:spPr>
      </p:sp>
      <p:sp>
        <p:nvSpPr>
          <p:cNvPr id="7" name="check"/>
          <p:cNvSpPr/>
          <p:nvPr/>
        </p:nvSpPr>
        <p:spPr>
          <a:xfrm>
            <a:off x="5760720" y="2468880"/>
            <a:ext cx="2468880" cy="502920"/>
          </a:xfrm>
          <a:prstGeom prst="roundRect">
            <a:avLst>
              <a:gd name="adj" fmla="val 18182"/>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rPr>
              <a:t>On the known-threat list?</a:t>
            </a:r>
            <a:endParaRPr lang="en-US" sz="1300" dirty="0"/>
          </a:p>
        </p:txBody>
      </p:sp>
      <p:sp>
        <p:nvSpPr>
          <p:cNvPr id="8" name="arrow"/>
          <p:cNvSpPr/>
          <p:nvPr/>
        </p:nvSpPr>
        <p:spPr>
          <a:xfrm>
            <a:off x="6172200" y="3026664"/>
            <a:ext cx="274320" cy="201168"/>
          </a:xfrm>
          <a:prstGeom prst="downArrow">
            <a:avLst/>
          </a:prstGeom>
          <a:solidFill>
            <a:schemeClr val="accent1"/>
          </a:solidFill>
          <a:ln w="12700">
            <a:solidFill>
              <a:schemeClr val="accent1"/>
            </a:solidFill>
            <a:prstDash val="solid"/>
          </a:ln>
        </p:spPr>
      </p:sp>
      <p:sp>
        <p:nvSpPr>
          <p:cNvPr id="9" name="arrow"/>
          <p:cNvSpPr/>
          <p:nvPr/>
        </p:nvSpPr>
        <p:spPr>
          <a:xfrm>
            <a:off x="7543800" y="3026664"/>
            <a:ext cx="274320" cy="201168"/>
          </a:xfrm>
          <a:prstGeom prst="downArrow">
            <a:avLst/>
          </a:prstGeom>
          <a:solidFill>
            <a:schemeClr val="accent1"/>
          </a:solidFill>
          <a:ln w="12700">
            <a:solidFill>
              <a:schemeClr val="accent1"/>
            </a:solidFill>
            <a:prstDash val="solid"/>
          </a:ln>
        </p:spPr>
      </p:sp>
      <p:sp>
        <p:nvSpPr>
          <p:cNvPr id="10" name="blocked"/>
          <p:cNvSpPr/>
          <p:nvPr/>
        </p:nvSpPr>
        <p:spPr>
          <a:xfrm>
            <a:off x="5577840" y="3337560"/>
            <a:ext cx="1371600" cy="640080"/>
          </a:xfrm>
          <a:prstGeom prst="roundRect">
            <a:avLst>
              <a:gd name="adj" fmla="val 14286"/>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Yes: Blocked</a:t>
            </a:r>
            <a:endParaRPr lang="en-US" sz="1300" dirty="0"/>
          </a:p>
        </p:txBody>
      </p:sp>
      <p:sp>
        <p:nvSpPr>
          <p:cNvPr id="11" name="missed"/>
          <p:cNvSpPr/>
          <p:nvPr/>
        </p:nvSpPr>
        <p:spPr>
          <a:xfrm>
            <a:off x="7040880" y="3337560"/>
            <a:ext cx="1371600" cy="640080"/>
          </a:xfrm>
          <a:prstGeom prst="roundRect">
            <a:avLst>
              <a:gd name="adj" fmla="val 14286"/>
            </a:avLst>
          </a:prstGeom>
          <a:solidFill>
            <a:schemeClr val="accent2"/>
          </a:solidFill>
          <a:ln/>
        </p:spPr>
        <p:txBody>
          <a:bodyPr wrap="square" lIns="50800" tIns="50800" rIns="50800" bIns="50800" rtlCol="0" anchor="ctr"/>
          <a:lstStyle/>
          <a:p>
            <a:pPr algn="ctr" indent="0" marL="0">
              <a:buNone/>
            </a:pPr>
            <a:r>
              <a:rPr lang="en-US" sz="1300" b="1" dirty="0">
                <a:solidFill>
                  <a:schemeClr val="bg1"/>
                </a:solidFill>
              </a:rPr>
              <a:t>No: Let through</a:t>
            </a:r>
            <a:endParaRPr lang="en-US" sz="1300" dirty="0"/>
          </a:p>
        </p:txBody>
      </p:sp>
      <p:sp>
        <p:nvSpPr>
          <p:cNvPr id="12" name="caption"/>
          <p:cNvSpPr txBox="1"/>
          <p:nvPr/>
        </p:nvSpPr>
        <p:spPr>
          <a:xfrm>
            <a:off x="5577840" y="4160520"/>
            <a:ext cx="2834640" cy="320040"/>
          </a:xfrm>
          <a:prstGeom prst="rect">
            <a:avLst/>
          </a:prstGeom>
          <a:noFill/>
          <a:ln/>
        </p:spPr>
        <p:txBody>
          <a:bodyPr wrap="square" lIns="0" tIns="0" rIns="0" bIns="0" rtlCol="0" anchor="ctr"/>
          <a:lstStyle/>
          <a:p>
            <a:pPr algn="ctr" indent="0" marL="0">
              <a:buNone/>
            </a:pPr>
            <a:r>
              <a:rPr lang="en-US" sz="1200" i="1" dirty="0">
                <a:solidFill>
                  <a:schemeClr val="tx1"/>
                </a:solidFill>
              </a:rPr>
              <a:t>Unknown threats slip past</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What is AI-Driven Cyber Defense?</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Machine Learning (ML):</a:t>
            </a:r>
            <a:pPr indent="0" marL="0">
              <a:buNone/>
            </a:pPr>
            <a:r>
              <a:rPr lang="en-US" sz="1600" dirty="0">
                <a:solidFill>
                  <a:schemeClr val="tx1"/>
                </a:solidFill>
              </a:rPr>
              <a:t> systems learn patterns from past data to spot threats</a:t>
            </a:r>
            <a:endParaRPr lang="en-US" sz="1600" dirty="0"/>
          </a:p>
          <a:p>
            <a:pPr marL="342900" indent="-342900">
              <a:spcAft>
                <a:spcPts val="1200"/>
              </a:spcAft>
              <a:buSzPct val="100000"/>
              <a:buChar char="•"/>
            </a:pPr>
            <a:r>
              <a:rPr lang="en-US" sz="1600" b="1" dirty="0">
                <a:solidFill>
                  <a:schemeClr val="tx1"/>
                </a:solidFill>
              </a:rPr>
              <a:t>Deep Learning:</a:t>
            </a:r>
            <a:pPr indent="0" marL="0">
              <a:buNone/>
            </a:pPr>
            <a:r>
              <a:rPr lang="en-US" sz="1600" dirty="0">
                <a:solidFill>
                  <a:schemeClr val="tx1"/>
                </a:solidFill>
              </a:rPr>
              <a:t> neural networks that find complex hidden patterns, such as in malware files</a:t>
            </a:r>
            <a:endParaRPr lang="en-US" sz="1600" dirty="0"/>
          </a:p>
          <a:p>
            <a:pPr marL="342900" indent="-342900">
              <a:spcAft>
                <a:spcPts val="1200"/>
              </a:spcAft>
              <a:buSzPct val="100000"/>
              <a:buChar char="•"/>
            </a:pPr>
            <a:r>
              <a:rPr lang="en-US" sz="1600" b="1" dirty="0">
                <a:solidFill>
                  <a:schemeClr val="tx1"/>
                </a:solidFill>
              </a:rPr>
              <a:t>Natural Language Processing (NLP):</a:t>
            </a:r>
            <a:pPr indent="0" marL="0">
              <a:buNone/>
            </a:pPr>
            <a:r>
              <a:rPr lang="en-US" sz="1600" dirty="0">
                <a:solidFill>
                  <a:schemeClr val="tx1"/>
                </a:solidFill>
              </a:rPr>
              <a:t> reads text to detect phishing and scam emails</a:t>
            </a:r>
            <a:endParaRPr lang="en-US" sz="1600" dirty="0"/>
          </a:p>
          <a:p>
            <a:pPr marL="342900" indent="-342900">
              <a:spcAft>
                <a:spcPts val="1200"/>
              </a:spcAft>
              <a:buSzPct val="100000"/>
              <a:buChar char="•"/>
            </a:pPr>
            <a:r>
              <a:rPr lang="en-US" sz="1600" b="1" dirty="0">
                <a:solidFill>
                  <a:schemeClr val="tx1"/>
                </a:solidFill>
              </a:rPr>
              <a:t>Continuous learning:</a:t>
            </a:r>
            <a:pPr indent="0" marL="0">
              <a:buNone/>
            </a:pPr>
            <a:r>
              <a:rPr lang="en-US" sz="1600" dirty="0">
                <a:solidFill>
                  <a:schemeClr val="tx1"/>
                </a:solidFill>
              </a:rPr>
              <a:t> the system improves as it sees more data</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AI circle"/>
          <p:cNvSpPr/>
          <p:nvPr/>
        </p:nvSpPr>
        <p:spPr>
          <a:xfrm>
            <a:off x="5577840" y="1623060"/>
            <a:ext cx="2834640" cy="2834640"/>
          </a:xfrm>
          <a:prstGeom prst="ellipse">
            <a:avLst/>
          </a:prstGeom>
          <a:solidFill>
            <a:schemeClr val="accent1">
              <a:alpha val="25000"/>
            </a:schemeClr>
          </a:solidFill>
          <a:ln w="19050">
            <a:solidFill>
              <a:schemeClr val="accent1"/>
            </a:solidFill>
            <a:prstDash val="solid"/>
          </a:ln>
        </p:spPr>
      </p:sp>
      <p:sp>
        <p:nvSpPr>
          <p:cNvPr id="6" name="ML circle"/>
          <p:cNvSpPr/>
          <p:nvPr/>
        </p:nvSpPr>
        <p:spPr>
          <a:xfrm>
            <a:off x="6035040" y="2125980"/>
            <a:ext cx="1920240" cy="1920240"/>
          </a:xfrm>
          <a:prstGeom prst="ellipse">
            <a:avLst/>
          </a:prstGeom>
          <a:solidFill>
            <a:schemeClr val="accent1">
              <a:alpha val="55000"/>
            </a:schemeClr>
          </a:solidFill>
          <a:ln w="19050">
            <a:solidFill>
              <a:schemeClr val="accent1"/>
            </a:solidFill>
            <a:prstDash val="solid"/>
          </a:ln>
        </p:spPr>
      </p:sp>
      <p:sp>
        <p:nvSpPr>
          <p:cNvPr id="7" name="DL circle"/>
          <p:cNvSpPr/>
          <p:nvPr/>
        </p:nvSpPr>
        <p:spPr>
          <a:xfrm>
            <a:off x="6446520" y="2720340"/>
            <a:ext cx="1097280" cy="1097280"/>
          </a:xfrm>
          <a:prstGeom prst="ellipse">
            <a:avLst/>
          </a:prstGeom>
          <a:solidFill>
            <a:schemeClr val="accent4"/>
          </a:solidFill>
          <a:ln/>
        </p:spPr>
        <p:txBody>
          <a:bodyPr wrap="square" lIns="25400" tIns="25400" rIns="25400" bIns="25400" rtlCol="0" anchor="ctr"/>
          <a:lstStyle/>
          <a:p>
            <a:pPr algn="ctr" indent="0" marL="0">
              <a:buNone/>
            </a:pPr>
            <a:r>
              <a:rPr lang="en-US" sz="1200" b="1" dirty="0">
                <a:solidFill>
                  <a:schemeClr val="bg1"/>
                </a:solidFill>
              </a:rPr>
              <a:t>Deep Learning</a:t>
            </a:r>
            <a:endParaRPr lang="en-US" sz="1200" dirty="0"/>
          </a:p>
        </p:txBody>
      </p:sp>
      <p:sp>
        <p:nvSpPr>
          <p:cNvPr id="8" name="AI label"/>
          <p:cNvSpPr txBox="1"/>
          <p:nvPr/>
        </p:nvSpPr>
        <p:spPr>
          <a:xfrm>
            <a:off x="5989320" y="1796796"/>
            <a:ext cx="2011680" cy="274320"/>
          </a:xfrm>
          <a:prstGeom prst="rect">
            <a:avLst/>
          </a:prstGeom>
          <a:noFill/>
          <a:ln/>
        </p:spPr>
        <p:txBody>
          <a:bodyPr wrap="square" lIns="0" tIns="0" rIns="0" bIns="0" rtlCol="0" anchor="ctr"/>
          <a:lstStyle/>
          <a:p>
            <a:pPr algn="ctr" indent="0" marL="0">
              <a:buNone/>
            </a:pPr>
            <a:r>
              <a:rPr lang="en-US" sz="1200" b="1" dirty="0">
                <a:solidFill>
                  <a:schemeClr val="tx2"/>
                </a:solidFill>
              </a:rPr>
              <a:t>Artificial Intelligence</a:t>
            </a:r>
            <a:endParaRPr lang="en-US" sz="1200" dirty="0"/>
          </a:p>
        </p:txBody>
      </p:sp>
      <p:sp>
        <p:nvSpPr>
          <p:cNvPr id="9" name="ML label"/>
          <p:cNvSpPr txBox="1"/>
          <p:nvPr/>
        </p:nvSpPr>
        <p:spPr>
          <a:xfrm>
            <a:off x="6172200" y="2263140"/>
            <a:ext cx="1645920" cy="274320"/>
          </a:xfrm>
          <a:prstGeom prst="rect">
            <a:avLst/>
          </a:prstGeom>
          <a:noFill/>
          <a:ln/>
        </p:spPr>
        <p:txBody>
          <a:bodyPr wrap="square" lIns="0" tIns="0" rIns="0" bIns="0" rtlCol="0" anchor="ctr"/>
          <a:lstStyle/>
          <a:p>
            <a:pPr algn="ctr" indent="0" marL="0">
              <a:buNone/>
            </a:pPr>
            <a:r>
              <a:rPr lang="en-US" sz="1200" b="1" dirty="0">
                <a:solidFill>
                  <a:schemeClr val="tx2"/>
                </a:solidFill>
              </a:rPr>
              <a:t>Machine Learning</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Core Pillar: Anomaly Detection &amp; Behavioral Analysis (UEBA)</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Baseline creation:</a:t>
            </a:r>
            <a:pPr indent="0" marL="0">
              <a:buNone/>
            </a:pPr>
            <a:r>
              <a:rPr lang="en-US" sz="1600" dirty="0">
                <a:solidFill>
                  <a:schemeClr val="tx1"/>
                </a:solidFill>
              </a:rPr>
              <a:t> AI learns what “normal” looks like for each user and device</a:t>
            </a:r>
            <a:endParaRPr lang="en-US" sz="1600" dirty="0"/>
          </a:p>
          <a:p>
            <a:pPr marL="342900" indent="-342900">
              <a:spcAft>
                <a:spcPts val="1200"/>
              </a:spcAft>
              <a:buSzPct val="100000"/>
              <a:buChar char="•"/>
            </a:pPr>
            <a:r>
              <a:rPr lang="en-US" sz="1600" b="1" dirty="0">
                <a:solidFill>
                  <a:schemeClr val="tx1"/>
                </a:solidFill>
              </a:rPr>
              <a:t>Anomaly detection:</a:t>
            </a:r>
            <a:pPr indent="0" marL="0">
              <a:buNone/>
            </a:pPr>
            <a:r>
              <a:rPr lang="en-US" sz="1600" dirty="0">
                <a:solidFill>
                  <a:schemeClr val="tx1"/>
                </a:solidFill>
              </a:rPr>
              <a:t> flags unusual activity, such as a login at 3 AM from another country</a:t>
            </a:r>
            <a:endParaRPr lang="en-US" sz="1600" dirty="0"/>
          </a:p>
          <a:p>
            <a:pPr marL="342900" indent="-342900">
              <a:spcAft>
                <a:spcPts val="1200"/>
              </a:spcAft>
              <a:buSzPct val="100000"/>
              <a:buChar char="•"/>
            </a:pPr>
            <a:r>
              <a:rPr lang="en-US" sz="1600" b="1" dirty="0">
                <a:solidFill>
                  <a:schemeClr val="tx1"/>
                </a:solidFill>
              </a:rPr>
              <a:t>UEBA</a:t>
            </a:r>
            <a:pPr indent="0" marL="0">
              <a:buNone/>
            </a:pPr>
            <a:r>
              <a:rPr lang="en-US" sz="1600" dirty="0">
                <a:solidFill>
                  <a:schemeClr val="tx1"/>
                </a:solidFill>
              </a:rPr>
              <a:t> stands for User and Entity Behavior Analytics</a:t>
            </a:r>
            <a:endParaRPr lang="en-US" sz="1600" dirty="0"/>
          </a:p>
          <a:p>
            <a:pPr marL="342900" indent="-342900">
              <a:spcAft>
                <a:spcPts val="1200"/>
              </a:spcAft>
              <a:buSzPct val="100000"/>
              <a:buChar char="•"/>
            </a:pPr>
            <a:r>
              <a:rPr lang="en-US" sz="1600" b="1" dirty="0">
                <a:solidFill>
                  <a:schemeClr val="tx1"/>
                </a:solidFill>
              </a:rPr>
              <a:t>Detects insider threats</a:t>
            </a:r>
            <a:pPr indent="0" marL="0">
              <a:buNone/>
            </a:pPr>
            <a:r>
              <a:rPr lang="en-US" sz="1600" dirty="0">
                <a:solidFill>
                  <a:schemeClr val="tx1"/>
                </a:solidFill>
              </a:rPr>
              <a:t> and stolen accounts, even without a known signature</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graphicFrame>
        <p:nvGraphicFramePr>
          <p:cNvPr id="5" name="Chart 0" descr=""/>
          <p:cNvGraphicFramePr/>
          <p:nvPr/>
        </p:nvGraphicFramePr>
        <p:xfrm>
          <a:off x="5486400" y="1508760"/>
          <a:ext cx="3017520" cy="2606040"/>
        </p:xfrm>
        <a:graphic xmlns:a="http://schemas.openxmlformats.org/drawingml/2006/main">
          <a:graphicData uri="http://schemas.openxmlformats.org/drawingml/2006/chart">
            <c:chart xmlns:c="http://schemas.openxmlformats.org/drawingml/2006/chart" r:id="rId1"/>
          </a:graphicData>
        </a:graphic>
      </p:graphicFrame>
      <p:sp>
        <p:nvSpPr>
          <p:cNvPr id="6" name="caption"/>
          <p:cNvSpPr txBox="1"/>
          <p:nvPr/>
        </p:nvSpPr>
        <p:spPr>
          <a:xfrm>
            <a:off x="5577840" y="4114800"/>
            <a:ext cx="2834640" cy="457200"/>
          </a:xfrm>
          <a:prstGeom prst="rect">
            <a:avLst/>
          </a:prstGeom>
          <a:noFill/>
          <a:ln/>
        </p:spPr>
        <p:txBody>
          <a:bodyPr wrap="square" lIns="0" tIns="0" rIns="0" bIns="0" rtlCol="0" anchor="ctr"/>
          <a:lstStyle/>
          <a:p>
            <a:pPr algn="ctr" indent="0" marL="0">
              <a:buNone/>
            </a:pPr>
            <a:r>
              <a:rPr lang="en-US" sz="1200" i="1" dirty="0">
                <a:solidFill>
                  <a:schemeClr val="tx1"/>
                </a:solidFill>
              </a:rPr>
              <a:t>The spike is activity far from the learned baseline, so the AI raises an alert</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Real-Time Threat Response &amp; Automation (SOAR)</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SOAR:</a:t>
            </a:r>
            <a:pPr indent="0" marL="0">
              <a:buNone/>
            </a:pPr>
            <a:r>
              <a:rPr lang="en-US" sz="1600" dirty="0">
                <a:solidFill>
                  <a:schemeClr val="tx1"/>
                </a:solidFill>
              </a:rPr>
              <a:t> Security Orchestration, Automation and Response</a:t>
            </a:r>
            <a:endParaRPr lang="en-US" sz="1600" dirty="0"/>
          </a:p>
          <a:p>
            <a:pPr marL="342900" indent="-342900">
              <a:spcAft>
                <a:spcPts val="1200"/>
              </a:spcAft>
              <a:buSzPct val="100000"/>
              <a:buChar char="•"/>
            </a:pPr>
            <a:r>
              <a:rPr lang="en-US" sz="1600" b="1" dirty="0">
                <a:solidFill>
                  <a:schemeClr val="tx1"/>
                </a:solidFill>
              </a:rPr>
              <a:t>Instant containment:</a:t>
            </a:r>
            <a:pPr indent="0" marL="0">
              <a:buNone/>
            </a:pPr>
            <a:r>
              <a:rPr lang="en-US" sz="1600" dirty="0">
                <a:solidFill>
                  <a:schemeClr val="tx1"/>
                </a:solidFill>
              </a:rPr>
              <a:t> infected devices can be isolated in seconds</a:t>
            </a:r>
            <a:endParaRPr lang="en-US" sz="1600" dirty="0"/>
          </a:p>
          <a:p>
            <a:pPr marL="342900" indent="-342900">
              <a:spcAft>
                <a:spcPts val="1200"/>
              </a:spcAft>
              <a:buSzPct val="100000"/>
              <a:buChar char="•"/>
            </a:pPr>
            <a:r>
              <a:rPr lang="en-US" sz="1600" b="1" dirty="0">
                <a:solidFill>
                  <a:schemeClr val="tx1"/>
                </a:solidFill>
              </a:rPr>
              <a:t>Automated playbooks</a:t>
            </a:r>
            <a:pPr indent="0" marL="0">
              <a:buNone/>
            </a:pPr>
            <a:r>
              <a:rPr lang="en-US" sz="1600" dirty="0">
                <a:solidFill>
                  <a:schemeClr val="tx1"/>
                </a:solidFill>
              </a:rPr>
              <a:t> handle repetitive tasks, such as blocking malicious IP addresses</a:t>
            </a:r>
            <a:endParaRPr lang="en-US" sz="1600" dirty="0"/>
          </a:p>
          <a:p>
            <a:pPr marL="342900" indent="-342900">
              <a:spcAft>
                <a:spcPts val="1200"/>
              </a:spcAft>
              <a:buSzPct val="100000"/>
              <a:buChar char="•"/>
            </a:pPr>
            <a:r>
              <a:rPr lang="en-US" sz="1600" b="1" dirty="0">
                <a:solidFill>
                  <a:schemeClr val="tx1"/>
                </a:solidFill>
              </a:rPr>
              <a:t>Frees analysts</a:t>
            </a:r>
            <a:pPr indent="0" marL="0">
              <a:buNone/>
            </a:pPr>
            <a:r>
              <a:rPr lang="en-US" sz="1600" dirty="0">
                <a:solidFill>
                  <a:schemeClr val="tx1"/>
                </a:solidFill>
              </a:rPr>
              <a:t> to focus on serious, complex incidents</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flow step 1"/>
          <p:cNvSpPr/>
          <p:nvPr/>
        </p:nvSpPr>
        <p:spPr>
          <a:xfrm>
            <a:off x="5760720" y="1645920"/>
            <a:ext cx="2468880" cy="502920"/>
          </a:xfrm>
          <a:prstGeom prst="roundRect">
            <a:avLst>
              <a:gd name="adj" fmla="val 18182"/>
            </a:avLst>
          </a:prstGeom>
          <a:solidFill>
            <a:schemeClr val="accent2"/>
          </a:solidFill>
          <a:ln/>
        </p:spPr>
        <p:txBody>
          <a:bodyPr wrap="square" lIns="50800" tIns="50800" rIns="50800" bIns="50800" rtlCol="0" anchor="ctr"/>
          <a:lstStyle/>
          <a:p>
            <a:pPr algn="ctr" indent="0" marL="0">
              <a:buNone/>
            </a:pPr>
            <a:r>
              <a:rPr lang="en-US" sz="1400" b="1" dirty="0">
                <a:solidFill>
                  <a:schemeClr val="bg1"/>
                </a:solidFill>
              </a:rPr>
              <a:t>Threat detected</a:t>
            </a:r>
            <a:endParaRPr lang="en-US" sz="1400" dirty="0"/>
          </a:p>
        </p:txBody>
      </p:sp>
      <p:sp>
        <p:nvSpPr>
          <p:cNvPr id="6" name="arrow"/>
          <p:cNvSpPr/>
          <p:nvPr/>
        </p:nvSpPr>
        <p:spPr>
          <a:xfrm>
            <a:off x="6858000" y="2185416"/>
            <a:ext cx="274320" cy="201168"/>
          </a:xfrm>
          <a:prstGeom prst="downArrow">
            <a:avLst/>
          </a:prstGeom>
          <a:solidFill>
            <a:schemeClr val="accent1"/>
          </a:solidFill>
          <a:ln w="12700">
            <a:solidFill>
              <a:schemeClr val="accent1"/>
            </a:solidFill>
            <a:prstDash val="solid"/>
          </a:ln>
        </p:spPr>
      </p:sp>
      <p:sp>
        <p:nvSpPr>
          <p:cNvPr id="7" name="flow step 2"/>
          <p:cNvSpPr/>
          <p:nvPr/>
        </p:nvSpPr>
        <p:spPr>
          <a:xfrm>
            <a:off x="5760720" y="2423160"/>
            <a:ext cx="2468880" cy="502920"/>
          </a:xfrm>
          <a:prstGeom prst="roundRect">
            <a:avLst>
              <a:gd name="adj" fmla="val 18182"/>
            </a:avLst>
          </a:prstGeom>
          <a:solidFill>
            <a:schemeClr val="tx2"/>
          </a:solidFill>
          <a:ln/>
        </p:spPr>
        <p:txBody>
          <a:bodyPr wrap="square" lIns="50800" tIns="50800" rIns="50800" bIns="50800" rtlCol="0" anchor="ctr"/>
          <a:lstStyle/>
          <a:p>
            <a:pPr algn="ctr" indent="0" marL="0">
              <a:buNone/>
            </a:pPr>
            <a:r>
              <a:rPr lang="en-US" sz="1400" b="1" dirty="0">
                <a:solidFill>
                  <a:schemeClr val="bg1"/>
                </a:solidFill>
              </a:rPr>
              <a:t>AI analysis</a:t>
            </a:r>
            <a:endParaRPr lang="en-US" sz="1400" dirty="0"/>
          </a:p>
        </p:txBody>
      </p:sp>
      <p:sp>
        <p:nvSpPr>
          <p:cNvPr id="8" name="arrow"/>
          <p:cNvSpPr/>
          <p:nvPr/>
        </p:nvSpPr>
        <p:spPr>
          <a:xfrm>
            <a:off x="6858000" y="2962656"/>
            <a:ext cx="274320" cy="201168"/>
          </a:xfrm>
          <a:prstGeom prst="downArrow">
            <a:avLst/>
          </a:prstGeom>
          <a:solidFill>
            <a:schemeClr val="accent1"/>
          </a:solidFill>
          <a:ln w="12700">
            <a:solidFill>
              <a:schemeClr val="accent1"/>
            </a:solidFill>
            <a:prstDash val="solid"/>
          </a:ln>
        </p:spPr>
      </p:sp>
      <p:sp>
        <p:nvSpPr>
          <p:cNvPr id="9" name="flow step 3"/>
          <p:cNvSpPr/>
          <p:nvPr/>
        </p:nvSpPr>
        <p:spPr>
          <a:xfrm>
            <a:off x="5760720" y="3200400"/>
            <a:ext cx="2468880" cy="502920"/>
          </a:xfrm>
          <a:prstGeom prst="roundRect">
            <a:avLst>
              <a:gd name="adj" fmla="val 18182"/>
            </a:avLst>
          </a:prstGeom>
          <a:solidFill>
            <a:schemeClr val="accent5"/>
          </a:solidFill>
          <a:ln/>
        </p:spPr>
        <p:txBody>
          <a:bodyPr wrap="square" lIns="50800" tIns="50800" rIns="50800" bIns="50800" rtlCol="0" anchor="ctr"/>
          <a:lstStyle/>
          <a:p>
            <a:pPr algn="ctr" indent="0" marL="0">
              <a:buNone/>
            </a:pPr>
            <a:r>
              <a:rPr lang="en-US" sz="1400" b="1" dirty="0">
                <a:solidFill>
                  <a:schemeClr val="bg1"/>
                </a:solidFill>
              </a:rPr>
              <a:t>Automatic action</a:t>
            </a:r>
            <a:endParaRPr lang="en-US" sz="1400" dirty="0"/>
          </a:p>
        </p:txBody>
      </p:sp>
      <p:sp>
        <p:nvSpPr>
          <p:cNvPr id="10" name="arrow"/>
          <p:cNvSpPr/>
          <p:nvPr/>
        </p:nvSpPr>
        <p:spPr>
          <a:xfrm>
            <a:off x="6858000" y="3739896"/>
            <a:ext cx="274320" cy="201168"/>
          </a:xfrm>
          <a:prstGeom prst="downArrow">
            <a:avLst/>
          </a:prstGeom>
          <a:solidFill>
            <a:schemeClr val="accent1"/>
          </a:solidFill>
          <a:ln w="12700">
            <a:solidFill>
              <a:schemeClr val="accent1"/>
            </a:solidFill>
            <a:prstDash val="solid"/>
          </a:ln>
        </p:spPr>
      </p:sp>
      <p:sp>
        <p:nvSpPr>
          <p:cNvPr id="11" name="flow step 4"/>
          <p:cNvSpPr/>
          <p:nvPr/>
        </p:nvSpPr>
        <p:spPr>
          <a:xfrm>
            <a:off x="5760720" y="3977640"/>
            <a:ext cx="2468880" cy="502920"/>
          </a:xfrm>
          <a:prstGeom prst="roundRect">
            <a:avLst>
              <a:gd name="adj" fmla="val 18182"/>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Alert sent to team</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Practical Applications</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Email Security:</a:t>
            </a:r>
            <a:pPr indent="0" marL="0">
              <a:buNone/>
            </a:pPr>
            <a:r>
              <a:rPr lang="en-US" sz="1600" dirty="0">
                <a:solidFill>
                  <a:schemeClr val="tx1"/>
                </a:solidFill>
              </a:rPr>
              <a:t> NLP detects phishing, fake links and scam language</a:t>
            </a:r>
            <a:endParaRPr lang="en-US" sz="1600" dirty="0"/>
          </a:p>
          <a:p>
            <a:pPr marL="342900" indent="-342900">
              <a:spcAft>
                <a:spcPts val="1200"/>
              </a:spcAft>
              <a:buSzPct val="100000"/>
              <a:buChar char="•"/>
            </a:pPr>
            <a:r>
              <a:rPr lang="en-US" sz="1600" b="1" dirty="0">
                <a:solidFill>
                  <a:schemeClr val="tx1"/>
                </a:solidFill>
              </a:rPr>
              <a:t>Endpoint Defense:</a:t>
            </a:r>
            <a:pPr indent="0" marL="0">
              <a:buNone/>
            </a:pPr>
            <a:r>
              <a:rPr lang="en-US" sz="1600" dirty="0">
                <a:solidFill>
                  <a:schemeClr val="tx1"/>
                </a:solidFill>
              </a:rPr>
              <a:t> ML spots malware on laptops and phones by its behavior</a:t>
            </a:r>
            <a:endParaRPr lang="en-US" sz="1600" dirty="0"/>
          </a:p>
          <a:p>
            <a:pPr marL="342900" indent="-342900">
              <a:spcAft>
                <a:spcPts val="1200"/>
              </a:spcAft>
              <a:buSzPct val="100000"/>
              <a:buChar char="•"/>
            </a:pPr>
            <a:r>
              <a:rPr lang="en-US" sz="1600" b="1" dirty="0">
                <a:solidFill>
                  <a:schemeClr val="tx1"/>
                </a:solidFill>
              </a:rPr>
              <a:t>Cloud Security:</a:t>
            </a:r>
            <a:pPr indent="0" marL="0">
              <a:buNone/>
            </a:pPr>
            <a:r>
              <a:rPr lang="en-US" sz="1600" dirty="0">
                <a:solidFill>
                  <a:schemeClr val="tx1"/>
                </a:solidFill>
              </a:rPr>
              <a:t> monitors access and settings to prevent data leaks and misconfigurations</a:t>
            </a:r>
            <a:endParaRPr lang="en-US" sz="1600" dirty="0"/>
          </a:p>
          <a:p>
            <a:pPr marL="342900" indent="-342900">
              <a:spcAft>
                <a:spcPts val="1200"/>
              </a:spcAft>
              <a:buSzPct val="100000"/>
              <a:buChar char="•"/>
            </a:pPr>
            <a:r>
              <a:rPr lang="en-US" sz="1600" b="1" dirty="0">
                <a:solidFill>
                  <a:schemeClr val="tx1"/>
                </a:solidFill>
              </a:rPr>
              <a:t>Network Monitoring:</a:t>
            </a:r>
            <a:pPr indent="0" marL="0">
              <a:buNone/>
            </a:pPr>
            <a:r>
              <a:rPr lang="en-US" sz="1600" dirty="0">
                <a:solidFill>
                  <a:schemeClr val="tx1"/>
                </a:solidFill>
              </a:rPr>
              <a:t> detects unusual traffic and possible intrusions in real time</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row card 1"/>
          <p:cNvSpPr/>
          <p:nvPr/>
        </p:nvSpPr>
        <p:spPr>
          <a:xfrm>
            <a:off x="5577840" y="1645920"/>
            <a:ext cx="2834640" cy="868680"/>
          </a:xfrm>
          <a:prstGeom prst="roundRect">
            <a:avLst>
              <a:gd name="adj" fmla="val 12632"/>
            </a:avLst>
          </a:prstGeom>
          <a:solidFill>
            <a:schemeClr val="bg1"/>
          </a:solidFill>
          <a:ln w="12700">
            <a:solidFill>
              <a:schemeClr val="bg1"/>
            </a:solidFill>
            <a:prstDash val="solid"/>
          </a:ln>
        </p:spPr>
      </p:sp>
      <p:sp>
        <p:nvSpPr>
          <p:cNvPr id="6" name="icon circle 1"/>
          <p:cNvSpPr/>
          <p:nvPr/>
        </p:nvSpPr>
        <p:spPr>
          <a:xfrm>
            <a:off x="5715000" y="1801368"/>
            <a:ext cx="566928" cy="566928"/>
          </a:xfrm>
          <a:prstGeom prst="ellipse">
            <a:avLst/>
          </a:prstGeom>
          <a:solidFill>
            <a:schemeClr val="accent1"/>
          </a:solidFill>
          <a:ln w="12700">
            <a:solidFill>
              <a:schemeClr val="accent1"/>
            </a:solidFill>
            <a:prstDash val="solid"/>
          </a:ln>
        </p:spPr>
      </p:sp>
      <p:pic>
        <p:nvPicPr>
          <p:cNvPr id="7" name="Image 0" descr="Email Security icon">    </p:cNvPr>
          <p:cNvPicPr>
            <a:picLocks noChangeAspect="1"/>
          </p:cNvPicPr>
          <p:nvPr/>
        </p:nvPicPr>
        <p:blipFill>
          <a:blip r:embed="rId1"/>
          <a:stretch>
            <a:fillRect/>
          </a:stretch>
        </p:blipFill>
        <p:spPr>
          <a:xfrm>
            <a:off x="5861304" y="1947672"/>
            <a:ext cx="274320" cy="274320"/>
          </a:xfrm>
          <a:prstGeom prst="rect">
            <a:avLst/>
          </a:prstGeom>
        </p:spPr>
      </p:pic>
      <p:sp>
        <p:nvSpPr>
          <p:cNvPr id="8" name="row text 1"/>
          <p:cNvSpPr txBox="1"/>
          <p:nvPr/>
        </p:nvSpPr>
        <p:spPr>
          <a:xfrm>
            <a:off x="6400800" y="1737360"/>
            <a:ext cx="1920240" cy="685800"/>
          </a:xfrm>
          <a:prstGeom prst="rect">
            <a:avLst/>
          </a:prstGeom>
          <a:noFill/>
          <a:ln/>
        </p:spPr>
        <p:txBody>
          <a:bodyPr wrap="square" lIns="0" tIns="0" rIns="0" bIns="0" rtlCol="0" anchor="ctr"/>
          <a:lstStyle/>
          <a:p>
            <a:pPr indent="0" marL="0">
              <a:buNone/>
            </a:pPr>
            <a:r>
              <a:rPr lang="en-US" sz="1500" b="1" dirty="0">
                <a:solidFill>
                  <a:schemeClr val="tx1"/>
                </a:solidFill>
              </a:rPr>
              <a:t>Email Security</a:t>
            </a:r>
            <a:endParaRPr lang="en-US" sz="1500" dirty="0"/>
          </a:p>
          <a:p>
            <a:pPr indent="0" marL="0">
              <a:buNone/>
            </a:pPr>
            <a:r>
              <a:rPr lang="en-US" sz="1200" dirty="0">
                <a:solidFill>
                  <a:schemeClr val="tx1"/>
                </a:solidFill>
              </a:rPr>
              <a:t>Phishing filters</a:t>
            </a:r>
            <a:endParaRPr lang="en-US" sz="1500" dirty="0"/>
          </a:p>
        </p:txBody>
      </p:sp>
      <p:sp>
        <p:nvSpPr>
          <p:cNvPr id="9" name="row card 2"/>
          <p:cNvSpPr/>
          <p:nvPr/>
        </p:nvSpPr>
        <p:spPr>
          <a:xfrm>
            <a:off x="5577840" y="2651760"/>
            <a:ext cx="2834640" cy="868680"/>
          </a:xfrm>
          <a:prstGeom prst="roundRect">
            <a:avLst>
              <a:gd name="adj" fmla="val 12632"/>
            </a:avLst>
          </a:prstGeom>
          <a:solidFill>
            <a:schemeClr val="bg1"/>
          </a:solidFill>
          <a:ln w="12700">
            <a:solidFill>
              <a:schemeClr val="bg1"/>
            </a:solidFill>
            <a:prstDash val="solid"/>
          </a:ln>
        </p:spPr>
      </p:sp>
      <p:sp>
        <p:nvSpPr>
          <p:cNvPr id="10" name="icon circle 2"/>
          <p:cNvSpPr/>
          <p:nvPr/>
        </p:nvSpPr>
        <p:spPr>
          <a:xfrm>
            <a:off x="5715000" y="2807208"/>
            <a:ext cx="566928" cy="566928"/>
          </a:xfrm>
          <a:prstGeom prst="ellipse">
            <a:avLst/>
          </a:prstGeom>
          <a:solidFill>
            <a:schemeClr val="accent1"/>
          </a:solidFill>
          <a:ln w="12700">
            <a:solidFill>
              <a:schemeClr val="accent1"/>
            </a:solidFill>
            <a:prstDash val="solid"/>
          </a:ln>
        </p:spPr>
      </p:sp>
      <p:pic>
        <p:nvPicPr>
          <p:cNvPr id="11" name="Image 1" descr="Endpoint Defense icon">    </p:cNvPr>
          <p:cNvPicPr>
            <a:picLocks noChangeAspect="1"/>
          </p:cNvPicPr>
          <p:nvPr/>
        </p:nvPicPr>
        <p:blipFill>
          <a:blip r:embed="rId2"/>
          <a:stretch>
            <a:fillRect/>
          </a:stretch>
        </p:blipFill>
        <p:spPr>
          <a:xfrm>
            <a:off x="5861304" y="2953512"/>
            <a:ext cx="274320" cy="274320"/>
          </a:xfrm>
          <a:prstGeom prst="rect">
            <a:avLst/>
          </a:prstGeom>
        </p:spPr>
      </p:pic>
      <p:sp>
        <p:nvSpPr>
          <p:cNvPr id="12" name="row text 2"/>
          <p:cNvSpPr txBox="1"/>
          <p:nvPr/>
        </p:nvSpPr>
        <p:spPr>
          <a:xfrm>
            <a:off x="6400800" y="2743200"/>
            <a:ext cx="1920240" cy="685800"/>
          </a:xfrm>
          <a:prstGeom prst="rect">
            <a:avLst/>
          </a:prstGeom>
          <a:noFill/>
          <a:ln/>
        </p:spPr>
        <p:txBody>
          <a:bodyPr wrap="square" lIns="0" tIns="0" rIns="0" bIns="0" rtlCol="0" anchor="ctr"/>
          <a:lstStyle/>
          <a:p>
            <a:pPr indent="0" marL="0">
              <a:buNone/>
            </a:pPr>
            <a:r>
              <a:rPr lang="en-US" sz="1500" b="1" dirty="0">
                <a:solidFill>
                  <a:schemeClr val="tx1"/>
                </a:solidFill>
              </a:rPr>
              <a:t>Endpoint Defense</a:t>
            </a:r>
            <a:endParaRPr lang="en-US" sz="1500" dirty="0"/>
          </a:p>
          <a:p>
            <a:pPr indent="0" marL="0">
              <a:buNone/>
            </a:pPr>
            <a:r>
              <a:rPr lang="en-US" sz="1200" dirty="0">
                <a:solidFill>
                  <a:schemeClr val="tx1"/>
                </a:solidFill>
              </a:rPr>
              <a:t>Malware detection</a:t>
            </a:r>
            <a:endParaRPr lang="en-US" sz="1500" dirty="0"/>
          </a:p>
        </p:txBody>
      </p:sp>
      <p:sp>
        <p:nvSpPr>
          <p:cNvPr id="13" name="row card 3"/>
          <p:cNvSpPr/>
          <p:nvPr/>
        </p:nvSpPr>
        <p:spPr>
          <a:xfrm>
            <a:off x="5577840" y="3657600"/>
            <a:ext cx="2834640" cy="868680"/>
          </a:xfrm>
          <a:prstGeom prst="roundRect">
            <a:avLst>
              <a:gd name="adj" fmla="val 12632"/>
            </a:avLst>
          </a:prstGeom>
          <a:solidFill>
            <a:schemeClr val="bg1"/>
          </a:solidFill>
          <a:ln w="12700">
            <a:solidFill>
              <a:schemeClr val="bg1"/>
            </a:solidFill>
            <a:prstDash val="solid"/>
          </a:ln>
        </p:spPr>
      </p:sp>
      <p:sp>
        <p:nvSpPr>
          <p:cNvPr id="14" name="icon circle 3"/>
          <p:cNvSpPr/>
          <p:nvPr/>
        </p:nvSpPr>
        <p:spPr>
          <a:xfrm>
            <a:off x="5715000" y="3813048"/>
            <a:ext cx="566928" cy="566928"/>
          </a:xfrm>
          <a:prstGeom prst="ellipse">
            <a:avLst/>
          </a:prstGeom>
          <a:solidFill>
            <a:schemeClr val="accent1"/>
          </a:solidFill>
          <a:ln w="12700">
            <a:solidFill>
              <a:schemeClr val="accent1"/>
            </a:solidFill>
            <a:prstDash val="solid"/>
          </a:ln>
        </p:spPr>
      </p:sp>
      <p:pic>
        <p:nvPicPr>
          <p:cNvPr id="15" name="Image 2" descr="Cloud Security icon">    </p:cNvPr>
          <p:cNvPicPr>
            <a:picLocks noChangeAspect="1"/>
          </p:cNvPicPr>
          <p:nvPr/>
        </p:nvPicPr>
        <p:blipFill>
          <a:blip r:embed="rId3"/>
          <a:stretch>
            <a:fillRect/>
          </a:stretch>
        </p:blipFill>
        <p:spPr>
          <a:xfrm>
            <a:off x="5861304" y="3959352"/>
            <a:ext cx="274320" cy="274320"/>
          </a:xfrm>
          <a:prstGeom prst="rect">
            <a:avLst/>
          </a:prstGeom>
        </p:spPr>
      </p:pic>
      <p:sp>
        <p:nvSpPr>
          <p:cNvPr id="16" name="row text 3"/>
          <p:cNvSpPr txBox="1"/>
          <p:nvPr/>
        </p:nvSpPr>
        <p:spPr>
          <a:xfrm>
            <a:off x="6400800" y="3749040"/>
            <a:ext cx="1920240" cy="685800"/>
          </a:xfrm>
          <a:prstGeom prst="rect">
            <a:avLst/>
          </a:prstGeom>
          <a:noFill/>
          <a:ln/>
        </p:spPr>
        <p:txBody>
          <a:bodyPr wrap="square" lIns="0" tIns="0" rIns="0" bIns="0" rtlCol="0" anchor="ctr"/>
          <a:lstStyle/>
          <a:p>
            <a:pPr indent="0" marL="0">
              <a:buNone/>
            </a:pPr>
            <a:r>
              <a:rPr lang="en-US" sz="1500" b="1" dirty="0">
                <a:solidFill>
                  <a:schemeClr val="tx1"/>
                </a:solidFill>
              </a:rPr>
              <a:t>Cloud Security</a:t>
            </a:r>
            <a:endParaRPr lang="en-US" sz="1500" dirty="0"/>
          </a:p>
          <a:p>
            <a:pPr indent="0" marL="0">
              <a:buNone/>
            </a:pPr>
            <a:r>
              <a:rPr lang="en-US" sz="1200" dirty="0">
                <a:solidFill>
                  <a:schemeClr val="tx1"/>
                </a:solidFill>
              </a:rPr>
              <a:t>Access monitoring</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Enterprise Case Study &amp; SIEM Integration</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SIEM</a:t>
            </a:r>
            <a:pPr indent="0" marL="0">
              <a:buNone/>
            </a:pPr>
            <a:r>
              <a:rPr lang="en-US" sz="1600" dirty="0">
                <a:solidFill>
                  <a:schemeClr val="tx1"/>
                </a:solidFill>
              </a:rPr>
              <a:t> (Security Information and Event Management) collects logs from across the organization</a:t>
            </a:r>
            <a:endParaRPr lang="en-US" sz="1600" dirty="0"/>
          </a:p>
          <a:p>
            <a:pPr marL="342900" indent="-342900">
              <a:spcAft>
                <a:spcPts val="1200"/>
              </a:spcAft>
              <a:buSzPct val="100000"/>
              <a:buChar char="•"/>
            </a:pPr>
            <a:r>
              <a:rPr lang="en-US" sz="1600" b="1" dirty="0">
                <a:solidFill>
                  <a:schemeClr val="tx1"/>
                </a:solidFill>
              </a:rPr>
              <a:t>CrowdStrike Falcon:</a:t>
            </a:r>
            <a:pPr indent="0" marL="0">
              <a:buNone/>
            </a:pPr>
            <a:r>
              <a:rPr lang="en-US" sz="1600" dirty="0">
                <a:solidFill>
                  <a:schemeClr val="tx1"/>
                </a:solidFill>
              </a:rPr>
              <a:t> cloud-based endpoint protection that uses AI/ML to detect threats by behavior</a:t>
            </a:r>
            <a:endParaRPr lang="en-US" sz="1600" dirty="0"/>
          </a:p>
          <a:p>
            <a:pPr marL="342900" indent="-342900">
              <a:spcAft>
                <a:spcPts val="1200"/>
              </a:spcAft>
              <a:buSzPct val="100000"/>
              <a:buChar char="•"/>
            </a:pPr>
            <a:r>
              <a:rPr lang="en-US" sz="1600" b="1" dirty="0">
                <a:solidFill>
                  <a:schemeClr val="tx1"/>
                </a:solidFill>
              </a:rPr>
              <a:t>Microsoft Sentinel:</a:t>
            </a:r>
            <a:pPr indent="0" marL="0">
              <a:buNone/>
            </a:pPr>
            <a:r>
              <a:rPr lang="en-US" sz="1600" dirty="0">
                <a:solidFill>
                  <a:schemeClr val="tx1"/>
                </a:solidFill>
              </a:rPr>
              <a:t> a cloud SIEM and SOAR platform that uses ML analytics to correlate alerts</a:t>
            </a:r>
            <a:endParaRPr lang="en-US" sz="1600" dirty="0"/>
          </a:p>
          <a:p>
            <a:pPr marL="342900" indent="-342900">
              <a:spcAft>
                <a:spcPts val="1200"/>
              </a:spcAft>
              <a:buSzPct val="100000"/>
              <a:buChar char="•"/>
            </a:pPr>
            <a:r>
              <a:rPr lang="en-US" sz="1600" b="1" dirty="0">
                <a:solidFill>
                  <a:schemeClr val="tx1"/>
                </a:solidFill>
              </a:rPr>
              <a:t>Integration benefit:</a:t>
            </a:r>
            <a:pPr indent="0" marL="0">
              <a:buNone/>
            </a:pPr>
            <a:r>
              <a:rPr lang="en-US" sz="1600" dirty="0">
                <a:solidFill>
                  <a:schemeClr val="tx1"/>
                </a:solidFill>
              </a:rPr>
              <a:t> combines data from many sources into one clear, prioritized picture</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source Firewalls"/>
          <p:cNvSpPr/>
          <p:nvPr/>
        </p:nvSpPr>
        <p:spPr>
          <a:xfrm>
            <a:off x="5577840" y="1691640"/>
            <a:ext cx="1188720" cy="411480"/>
          </a:xfrm>
          <a:prstGeom prst="roundRect">
            <a:avLst>
              <a:gd name="adj" fmla="val 22222"/>
            </a:avLst>
          </a:prstGeom>
          <a:solidFill>
            <a:schemeClr val="tx2"/>
          </a:solidFill>
          <a:ln/>
        </p:spPr>
        <p:txBody>
          <a:bodyPr wrap="square" lIns="50800" tIns="50800" rIns="50800" bIns="50800" rtlCol="0" anchor="ctr"/>
          <a:lstStyle/>
          <a:p>
            <a:pPr algn="ctr" indent="0" marL="0">
              <a:buNone/>
            </a:pPr>
            <a:r>
              <a:rPr lang="en-US" sz="1200" b="1" dirty="0">
                <a:solidFill>
                  <a:schemeClr val="bg1"/>
                </a:solidFill>
              </a:rPr>
              <a:t>Firewalls</a:t>
            </a:r>
            <a:endParaRPr lang="en-US" sz="1200" dirty="0"/>
          </a:p>
        </p:txBody>
      </p:sp>
      <p:sp>
        <p:nvSpPr>
          <p:cNvPr id="6" name="arrow Firewalls"/>
          <p:cNvSpPr/>
          <p:nvPr/>
        </p:nvSpPr>
        <p:spPr>
          <a:xfrm>
            <a:off x="6830568" y="1783080"/>
            <a:ext cx="365760" cy="228600"/>
          </a:xfrm>
          <a:prstGeom prst="rightArrow">
            <a:avLst/>
          </a:prstGeom>
          <a:solidFill>
            <a:schemeClr val="accent1"/>
          </a:solidFill>
          <a:ln w="12700">
            <a:solidFill>
              <a:schemeClr val="accent1"/>
            </a:solidFill>
            <a:prstDash val="solid"/>
          </a:ln>
        </p:spPr>
      </p:sp>
      <p:sp>
        <p:nvSpPr>
          <p:cNvPr id="7" name="source Servers"/>
          <p:cNvSpPr/>
          <p:nvPr/>
        </p:nvSpPr>
        <p:spPr>
          <a:xfrm>
            <a:off x="5577840" y="2377440"/>
            <a:ext cx="1188720" cy="411480"/>
          </a:xfrm>
          <a:prstGeom prst="roundRect">
            <a:avLst>
              <a:gd name="adj" fmla="val 22222"/>
            </a:avLst>
          </a:prstGeom>
          <a:solidFill>
            <a:schemeClr val="tx2"/>
          </a:solidFill>
          <a:ln/>
        </p:spPr>
        <p:txBody>
          <a:bodyPr wrap="square" lIns="50800" tIns="50800" rIns="50800" bIns="50800" rtlCol="0" anchor="ctr"/>
          <a:lstStyle/>
          <a:p>
            <a:pPr algn="ctr" indent="0" marL="0">
              <a:buNone/>
            </a:pPr>
            <a:r>
              <a:rPr lang="en-US" sz="1200" b="1" dirty="0">
                <a:solidFill>
                  <a:schemeClr val="bg1"/>
                </a:solidFill>
              </a:rPr>
              <a:t>Servers</a:t>
            </a:r>
            <a:endParaRPr lang="en-US" sz="1200" dirty="0"/>
          </a:p>
        </p:txBody>
      </p:sp>
      <p:sp>
        <p:nvSpPr>
          <p:cNvPr id="8" name="arrow Servers"/>
          <p:cNvSpPr/>
          <p:nvPr/>
        </p:nvSpPr>
        <p:spPr>
          <a:xfrm>
            <a:off x="6830568" y="2468880"/>
            <a:ext cx="365760" cy="228600"/>
          </a:xfrm>
          <a:prstGeom prst="rightArrow">
            <a:avLst/>
          </a:prstGeom>
          <a:solidFill>
            <a:schemeClr val="accent1"/>
          </a:solidFill>
          <a:ln w="12700">
            <a:solidFill>
              <a:schemeClr val="accent1"/>
            </a:solidFill>
            <a:prstDash val="solid"/>
          </a:ln>
        </p:spPr>
      </p:sp>
      <p:sp>
        <p:nvSpPr>
          <p:cNvPr id="9" name="source Endpoints"/>
          <p:cNvSpPr/>
          <p:nvPr/>
        </p:nvSpPr>
        <p:spPr>
          <a:xfrm>
            <a:off x="5577840" y="3063240"/>
            <a:ext cx="1188720" cy="411480"/>
          </a:xfrm>
          <a:prstGeom prst="roundRect">
            <a:avLst>
              <a:gd name="adj" fmla="val 22222"/>
            </a:avLst>
          </a:prstGeom>
          <a:solidFill>
            <a:schemeClr val="tx2"/>
          </a:solidFill>
          <a:ln/>
        </p:spPr>
        <p:txBody>
          <a:bodyPr wrap="square" lIns="50800" tIns="50800" rIns="50800" bIns="50800" rtlCol="0" anchor="ctr"/>
          <a:lstStyle/>
          <a:p>
            <a:pPr algn="ctr" indent="0" marL="0">
              <a:buNone/>
            </a:pPr>
            <a:r>
              <a:rPr lang="en-US" sz="1200" b="1" dirty="0">
                <a:solidFill>
                  <a:schemeClr val="bg1"/>
                </a:solidFill>
              </a:rPr>
              <a:t>Endpoints</a:t>
            </a:r>
            <a:endParaRPr lang="en-US" sz="1200" dirty="0"/>
          </a:p>
        </p:txBody>
      </p:sp>
      <p:sp>
        <p:nvSpPr>
          <p:cNvPr id="10" name="arrow Endpoints"/>
          <p:cNvSpPr/>
          <p:nvPr/>
        </p:nvSpPr>
        <p:spPr>
          <a:xfrm>
            <a:off x="6830568" y="3154680"/>
            <a:ext cx="365760" cy="228600"/>
          </a:xfrm>
          <a:prstGeom prst="rightArrow">
            <a:avLst/>
          </a:prstGeom>
          <a:solidFill>
            <a:schemeClr val="accent1"/>
          </a:solidFill>
          <a:ln w="12700">
            <a:solidFill>
              <a:schemeClr val="accent1"/>
            </a:solidFill>
            <a:prstDash val="solid"/>
          </a:ln>
        </p:spPr>
      </p:sp>
      <p:sp>
        <p:nvSpPr>
          <p:cNvPr id="11" name="source Cloud"/>
          <p:cNvSpPr/>
          <p:nvPr/>
        </p:nvSpPr>
        <p:spPr>
          <a:xfrm>
            <a:off x="5577840" y="3749040"/>
            <a:ext cx="1188720" cy="411480"/>
          </a:xfrm>
          <a:prstGeom prst="roundRect">
            <a:avLst>
              <a:gd name="adj" fmla="val 22222"/>
            </a:avLst>
          </a:prstGeom>
          <a:solidFill>
            <a:schemeClr val="tx2"/>
          </a:solidFill>
          <a:ln/>
        </p:spPr>
        <p:txBody>
          <a:bodyPr wrap="square" lIns="50800" tIns="50800" rIns="50800" bIns="50800" rtlCol="0" anchor="ctr"/>
          <a:lstStyle/>
          <a:p>
            <a:pPr algn="ctr" indent="0" marL="0">
              <a:buNone/>
            </a:pPr>
            <a:r>
              <a:rPr lang="en-US" sz="1200" b="1" dirty="0">
                <a:solidFill>
                  <a:schemeClr val="bg1"/>
                </a:solidFill>
              </a:rPr>
              <a:t>Cloud</a:t>
            </a:r>
            <a:endParaRPr lang="en-US" sz="1200" dirty="0"/>
          </a:p>
        </p:txBody>
      </p:sp>
      <p:sp>
        <p:nvSpPr>
          <p:cNvPr id="12" name="arrow Cloud"/>
          <p:cNvSpPr/>
          <p:nvPr/>
        </p:nvSpPr>
        <p:spPr>
          <a:xfrm>
            <a:off x="6830568" y="3840480"/>
            <a:ext cx="365760" cy="228600"/>
          </a:xfrm>
          <a:prstGeom prst="rightArrow">
            <a:avLst/>
          </a:prstGeom>
          <a:solidFill>
            <a:schemeClr val="accent1"/>
          </a:solidFill>
          <a:ln w="12700">
            <a:solidFill>
              <a:schemeClr val="accent1"/>
            </a:solidFill>
            <a:prstDash val="solid"/>
          </a:ln>
        </p:spPr>
      </p:sp>
      <p:sp>
        <p:nvSpPr>
          <p:cNvPr id="13" name="SIEM box"/>
          <p:cNvSpPr/>
          <p:nvPr/>
        </p:nvSpPr>
        <p:spPr>
          <a:xfrm>
            <a:off x="7269480" y="1691640"/>
            <a:ext cx="1143000" cy="2468880"/>
          </a:xfrm>
          <a:prstGeom prst="roundRect">
            <a:avLst>
              <a:gd name="adj" fmla="val 8000"/>
            </a:avLst>
          </a:prstGeom>
          <a:solidFill>
            <a:schemeClr val="accent1"/>
          </a:solidFill>
          <a:ln/>
        </p:spPr>
        <p:txBody>
          <a:bodyPr wrap="square" rtlCol="0" anchor="ctr"/>
          <a:lstStyle/>
          <a:p>
            <a:pPr algn="ctr" indent="0" marL="0">
              <a:buNone/>
            </a:pPr>
            <a:r>
              <a:rPr lang="en-US" sz="2000" b="1" dirty="0">
                <a:solidFill>
                  <a:schemeClr val="bg1"/>
                </a:solidFill>
              </a:rPr>
              <a:t>SIEM</a:t>
            </a:r>
            <a:endParaRPr lang="en-US" sz="2000" dirty="0"/>
          </a:p>
          <a:p>
            <a:pPr algn="ctr" indent="0" marL="0">
              <a:buNone/>
            </a:pPr>
            <a:r>
              <a:rPr lang="en-US" sz="1200" dirty="0">
                <a:solidFill>
                  <a:schemeClr val="bg1"/>
                </a:solidFill>
              </a:rPr>
              <a:t>AI analytics</a:t>
            </a:r>
            <a:endParaRPr lang="en-US" sz="2000" dirty="0"/>
          </a:p>
        </p:txBody>
      </p:sp>
      <p:sp>
        <p:nvSpPr>
          <p:cNvPr id="14" name="caption"/>
          <p:cNvSpPr txBox="1"/>
          <p:nvPr/>
        </p:nvSpPr>
        <p:spPr>
          <a:xfrm>
            <a:off x="5577840" y="4251960"/>
            <a:ext cx="2834640" cy="320040"/>
          </a:xfrm>
          <a:prstGeom prst="rect">
            <a:avLst/>
          </a:prstGeom>
          <a:noFill/>
          <a:ln/>
        </p:spPr>
        <p:txBody>
          <a:bodyPr wrap="square" lIns="0" tIns="0" rIns="0" bIns="0" rtlCol="0" anchor="ctr"/>
          <a:lstStyle/>
          <a:p>
            <a:pPr algn="ctr" indent="0" marL="0">
              <a:buNone/>
            </a:pPr>
            <a:r>
              <a:rPr lang="en-US" sz="1200" i="1" dirty="0">
                <a:solidFill>
                  <a:schemeClr val="tx1"/>
                </a:solidFill>
              </a:rPr>
              <a:t>Many sources, one prioritized picture</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Challenges of AI Defense</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Data Poisoning:</a:t>
            </a:r>
            <a:pPr indent="0" marL="0">
              <a:buNone/>
            </a:pPr>
            <a:r>
              <a:rPr lang="en-US" sz="1600" dirty="0">
                <a:solidFill>
                  <a:schemeClr val="tx1"/>
                </a:solidFill>
              </a:rPr>
              <a:t> attackers feed bad data to the AI so it learns wrong patterns</a:t>
            </a:r>
            <a:endParaRPr lang="en-US" sz="1600" dirty="0"/>
          </a:p>
          <a:p>
            <a:pPr marL="342900" indent="-342900">
              <a:spcAft>
                <a:spcPts val="1200"/>
              </a:spcAft>
              <a:buSzPct val="100000"/>
              <a:buChar char="•"/>
            </a:pPr>
            <a:r>
              <a:rPr lang="en-US" sz="1600" b="1" dirty="0">
                <a:solidFill>
                  <a:schemeClr val="tx1"/>
                </a:solidFill>
              </a:rPr>
              <a:t>Adversarial AI:</a:t>
            </a:r>
            <a:pPr indent="0" marL="0">
              <a:buNone/>
            </a:pPr>
            <a:r>
              <a:rPr lang="en-US" sz="1600" dirty="0">
                <a:solidFill>
                  <a:schemeClr val="tx1"/>
                </a:solidFill>
              </a:rPr>
              <a:t> attackers craft inputs designed to trick the model into missing threats</a:t>
            </a:r>
            <a:endParaRPr lang="en-US" sz="1600" dirty="0"/>
          </a:p>
          <a:p>
            <a:pPr marL="342900" indent="-342900">
              <a:spcAft>
                <a:spcPts val="1200"/>
              </a:spcAft>
              <a:buSzPct val="100000"/>
              <a:buChar char="•"/>
            </a:pPr>
            <a:r>
              <a:rPr lang="en-US" sz="1600" b="1" dirty="0">
                <a:solidFill>
                  <a:schemeClr val="tx1"/>
                </a:solidFill>
              </a:rPr>
              <a:t>False Positives:</a:t>
            </a:r>
            <a:pPr indent="0" marL="0">
              <a:buNone/>
            </a:pPr>
            <a:r>
              <a:rPr lang="en-US" sz="1600" dirty="0">
                <a:solidFill>
                  <a:schemeClr val="tx1"/>
                </a:solidFill>
              </a:rPr>
              <a:t> harmless activity flagged as dangerous, causing wasted time</a:t>
            </a:r>
            <a:endParaRPr lang="en-US" sz="1600" dirty="0"/>
          </a:p>
          <a:p>
            <a:pPr marL="342900" indent="-342900">
              <a:spcAft>
                <a:spcPts val="1200"/>
              </a:spcAft>
              <a:buSzPct val="100000"/>
              <a:buChar char="•"/>
            </a:pPr>
            <a:r>
              <a:rPr lang="en-US" sz="1600" b="1" dirty="0">
                <a:solidFill>
                  <a:schemeClr val="tx1"/>
                </a:solidFill>
              </a:rPr>
              <a:t>Human oversight is still needed</a:t>
            </a:r>
            <a:pPr indent="0" marL="0">
              <a:buNone/>
            </a:pPr>
            <a:r>
              <a:rPr lang="en-US" sz="1600" dirty="0">
                <a:solidFill>
                  <a:schemeClr val="tx1"/>
                </a:solidFill>
              </a:rPr>
              <a:t> because AI is powerful but not perfect</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row card 1"/>
          <p:cNvSpPr/>
          <p:nvPr/>
        </p:nvSpPr>
        <p:spPr>
          <a:xfrm>
            <a:off x="5577840" y="1645920"/>
            <a:ext cx="2834640" cy="868680"/>
          </a:xfrm>
          <a:prstGeom prst="roundRect">
            <a:avLst>
              <a:gd name="adj" fmla="val 12632"/>
            </a:avLst>
          </a:prstGeom>
          <a:solidFill>
            <a:schemeClr val="bg1"/>
          </a:solidFill>
          <a:ln w="12700">
            <a:solidFill>
              <a:schemeClr val="bg1"/>
            </a:solidFill>
            <a:prstDash val="solid"/>
          </a:ln>
        </p:spPr>
      </p:sp>
      <p:sp>
        <p:nvSpPr>
          <p:cNvPr id="6" name="icon circle 1"/>
          <p:cNvSpPr/>
          <p:nvPr/>
        </p:nvSpPr>
        <p:spPr>
          <a:xfrm>
            <a:off x="5715000" y="1801368"/>
            <a:ext cx="566928" cy="566928"/>
          </a:xfrm>
          <a:prstGeom prst="ellipse">
            <a:avLst/>
          </a:prstGeom>
          <a:solidFill>
            <a:schemeClr val="accent2"/>
          </a:solidFill>
          <a:ln w="12700">
            <a:solidFill>
              <a:schemeClr val="accent2"/>
            </a:solidFill>
            <a:prstDash val="solid"/>
          </a:ln>
        </p:spPr>
      </p:sp>
      <p:pic>
        <p:nvPicPr>
          <p:cNvPr id="7" name="Image 0" descr="Data Poisoning icon">    </p:cNvPr>
          <p:cNvPicPr>
            <a:picLocks noChangeAspect="1"/>
          </p:cNvPicPr>
          <p:nvPr/>
        </p:nvPicPr>
        <p:blipFill>
          <a:blip r:embed="rId1"/>
          <a:stretch>
            <a:fillRect/>
          </a:stretch>
        </p:blipFill>
        <p:spPr>
          <a:xfrm>
            <a:off x="5861304" y="1947672"/>
            <a:ext cx="274320" cy="274320"/>
          </a:xfrm>
          <a:prstGeom prst="rect">
            <a:avLst/>
          </a:prstGeom>
        </p:spPr>
      </p:pic>
      <p:sp>
        <p:nvSpPr>
          <p:cNvPr id="8" name="row text 1"/>
          <p:cNvSpPr txBox="1"/>
          <p:nvPr/>
        </p:nvSpPr>
        <p:spPr>
          <a:xfrm>
            <a:off x="6400800" y="1737360"/>
            <a:ext cx="1920240" cy="685800"/>
          </a:xfrm>
          <a:prstGeom prst="rect">
            <a:avLst/>
          </a:prstGeom>
          <a:noFill/>
          <a:ln/>
        </p:spPr>
        <p:txBody>
          <a:bodyPr wrap="square" lIns="0" tIns="0" rIns="0" bIns="0" rtlCol="0" anchor="ctr"/>
          <a:lstStyle/>
          <a:p>
            <a:pPr indent="0" marL="0">
              <a:buNone/>
            </a:pPr>
            <a:r>
              <a:rPr lang="en-US" sz="1500" b="1" dirty="0">
                <a:solidFill>
                  <a:schemeClr val="tx1"/>
                </a:solidFill>
              </a:rPr>
              <a:t>Data Poisoning</a:t>
            </a:r>
            <a:endParaRPr lang="en-US" sz="1500" dirty="0"/>
          </a:p>
          <a:p>
            <a:pPr indent="0" marL="0">
              <a:buNone/>
            </a:pPr>
            <a:r>
              <a:rPr lang="en-US" sz="1200" dirty="0">
                <a:solidFill>
                  <a:schemeClr val="tx1"/>
                </a:solidFill>
              </a:rPr>
              <a:t>Corrupted training data</a:t>
            </a:r>
            <a:endParaRPr lang="en-US" sz="1500" dirty="0"/>
          </a:p>
        </p:txBody>
      </p:sp>
      <p:sp>
        <p:nvSpPr>
          <p:cNvPr id="9" name="row card 2"/>
          <p:cNvSpPr/>
          <p:nvPr/>
        </p:nvSpPr>
        <p:spPr>
          <a:xfrm>
            <a:off x="5577840" y="2651760"/>
            <a:ext cx="2834640" cy="868680"/>
          </a:xfrm>
          <a:prstGeom prst="roundRect">
            <a:avLst>
              <a:gd name="adj" fmla="val 12632"/>
            </a:avLst>
          </a:prstGeom>
          <a:solidFill>
            <a:schemeClr val="bg1"/>
          </a:solidFill>
          <a:ln w="12700">
            <a:solidFill>
              <a:schemeClr val="bg1"/>
            </a:solidFill>
            <a:prstDash val="solid"/>
          </a:ln>
        </p:spPr>
      </p:sp>
      <p:sp>
        <p:nvSpPr>
          <p:cNvPr id="10" name="icon circle 2"/>
          <p:cNvSpPr/>
          <p:nvPr/>
        </p:nvSpPr>
        <p:spPr>
          <a:xfrm>
            <a:off x="5715000" y="2807208"/>
            <a:ext cx="566928" cy="566928"/>
          </a:xfrm>
          <a:prstGeom prst="ellipse">
            <a:avLst/>
          </a:prstGeom>
          <a:solidFill>
            <a:schemeClr val="accent2"/>
          </a:solidFill>
          <a:ln w="12700">
            <a:solidFill>
              <a:schemeClr val="accent2"/>
            </a:solidFill>
            <a:prstDash val="solid"/>
          </a:ln>
        </p:spPr>
      </p:sp>
      <p:pic>
        <p:nvPicPr>
          <p:cNvPr id="11" name="Image 1" descr="Adversarial AI icon">    </p:cNvPr>
          <p:cNvPicPr>
            <a:picLocks noChangeAspect="1"/>
          </p:cNvPicPr>
          <p:nvPr/>
        </p:nvPicPr>
        <p:blipFill>
          <a:blip r:embed="rId2"/>
          <a:stretch>
            <a:fillRect/>
          </a:stretch>
        </p:blipFill>
        <p:spPr>
          <a:xfrm>
            <a:off x="5861304" y="2953512"/>
            <a:ext cx="274320" cy="274320"/>
          </a:xfrm>
          <a:prstGeom prst="rect">
            <a:avLst/>
          </a:prstGeom>
        </p:spPr>
      </p:pic>
      <p:sp>
        <p:nvSpPr>
          <p:cNvPr id="12" name="row text 2"/>
          <p:cNvSpPr txBox="1"/>
          <p:nvPr/>
        </p:nvSpPr>
        <p:spPr>
          <a:xfrm>
            <a:off x="6400800" y="2743200"/>
            <a:ext cx="1920240" cy="685800"/>
          </a:xfrm>
          <a:prstGeom prst="rect">
            <a:avLst/>
          </a:prstGeom>
          <a:noFill/>
          <a:ln/>
        </p:spPr>
        <p:txBody>
          <a:bodyPr wrap="square" lIns="0" tIns="0" rIns="0" bIns="0" rtlCol="0" anchor="ctr"/>
          <a:lstStyle/>
          <a:p>
            <a:pPr indent="0" marL="0">
              <a:buNone/>
            </a:pPr>
            <a:r>
              <a:rPr lang="en-US" sz="1500" b="1" dirty="0">
                <a:solidFill>
                  <a:schemeClr val="tx1"/>
                </a:solidFill>
              </a:rPr>
              <a:t>Adversarial AI</a:t>
            </a:r>
            <a:endParaRPr lang="en-US" sz="1500" dirty="0"/>
          </a:p>
          <a:p>
            <a:pPr indent="0" marL="0">
              <a:buNone/>
            </a:pPr>
            <a:r>
              <a:rPr lang="en-US" sz="1200" dirty="0">
                <a:solidFill>
                  <a:schemeClr val="tx1"/>
                </a:solidFill>
              </a:rPr>
              <a:t>Inputs built to fool models</a:t>
            </a:r>
            <a:endParaRPr lang="en-US" sz="1500" dirty="0"/>
          </a:p>
        </p:txBody>
      </p:sp>
      <p:sp>
        <p:nvSpPr>
          <p:cNvPr id="13" name="row card 3"/>
          <p:cNvSpPr/>
          <p:nvPr/>
        </p:nvSpPr>
        <p:spPr>
          <a:xfrm>
            <a:off x="5577840" y="3657600"/>
            <a:ext cx="2834640" cy="868680"/>
          </a:xfrm>
          <a:prstGeom prst="roundRect">
            <a:avLst>
              <a:gd name="adj" fmla="val 12632"/>
            </a:avLst>
          </a:prstGeom>
          <a:solidFill>
            <a:schemeClr val="bg1"/>
          </a:solidFill>
          <a:ln w="12700">
            <a:solidFill>
              <a:schemeClr val="bg1"/>
            </a:solidFill>
            <a:prstDash val="solid"/>
          </a:ln>
        </p:spPr>
      </p:sp>
      <p:sp>
        <p:nvSpPr>
          <p:cNvPr id="14" name="icon circle 3"/>
          <p:cNvSpPr/>
          <p:nvPr/>
        </p:nvSpPr>
        <p:spPr>
          <a:xfrm>
            <a:off x="5715000" y="3813048"/>
            <a:ext cx="566928" cy="566928"/>
          </a:xfrm>
          <a:prstGeom prst="ellipse">
            <a:avLst/>
          </a:prstGeom>
          <a:solidFill>
            <a:schemeClr val="accent2"/>
          </a:solidFill>
          <a:ln w="12700">
            <a:solidFill>
              <a:schemeClr val="accent2"/>
            </a:solidFill>
            <a:prstDash val="solid"/>
          </a:ln>
        </p:spPr>
      </p:sp>
      <p:pic>
        <p:nvPicPr>
          <p:cNvPr id="15" name="Image 2" descr="False Positives icon">    </p:cNvPr>
          <p:cNvPicPr>
            <a:picLocks noChangeAspect="1"/>
          </p:cNvPicPr>
          <p:nvPr/>
        </p:nvPicPr>
        <p:blipFill>
          <a:blip r:embed="rId3"/>
          <a:stretch>
            <a:fillRect/>
          </a:stretch>
        </p:blipFill>
        <p:spPr>
          <a:xfrm>
            <a:off x="5861304" y="3959352"/>
            <a:ext cx="274320" cy="274320"/>
          </a:xfrm>
          <a:prstGeom prst="rect">
            <a:avLst/>
          </a:prstGeom>
        </p:spPr>
      </p:pic>
      <p:sp>
        <p:nvSpPr>
          <p:cNvPr id="16" name="row text 3"/>
          <p:cNvSpPr txBox="1"/>
          <p:nvPr/>
        </p:nvSpPr>
        <p:spPr>
          <a:xfrm>
            <a:off x="6400800" y="3749040"/>
            <a:ext cx="1920240" cy="685800"/>
          </a:xfrm>
          <a:prstGeom prst="rect">
            <a:avLst/>
          </a:prstGeom>
          <a:noFill/>
          <a:ln/>
        </p:spPr>
        <p:txBody>
          <a:bodyPr wrap="square" lIns="0" tIns="0" rIns="0" bIns="0" rtlCol="0" anchor="ctr"/>
          <a:lstStyle/>
          <a:p>
            <a:pPr indent="0" marL="0">
              <a:buNone/>
            </a:pPr>
            <a:r>
              <a:rPr lang="en-US" sz="1500" b="1" dirty="0">
                <a:solidFill>
                  <a:schemeClr val="tx1"/>
                </a:solidFill>
              </a:rPr>
              <a:t>False Positives</a:t>
            </a:r>
            <a:endParaRPr lang="en-US" sz="1500" dirty="0"/>
          </a:p>
          <a:p>
            <a:pPr indent="0" marL="0">
              <a:buNone/>
            </a:pPr>
            <a:r>
              <a:rPr lang="en-US" sz="1200" dirty="0">
                <a:solidFill>
                  <a:schemeClr val="tx1"/>
                </a:solidFill>
              </a:rPr>
              <a:t>Harmless seen as risky</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tx2"/>
                </a:solidFill>
              </a:rPr>
              <a:t>The Future Landscape</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Predictive Defense:</a:t>
            </a:r>
            <a:pPr indent="0" marL="0">
              <a:buNone/>
            </a:pPr>
            <a:r>
              <a:rPr lang="en-US" sz="1600" dirty="0">
                <a:solidFill>
                  <a:schemeClr val="tx1"/>
                </a:solidFill>
              </a:rPr>
              <a:t> AI forecasts likely attacks before they happen</a:t>
            </a:r>
            <a:endParaRPr lang="en-US" sz="1600" dirty="0"/>
          </a:p>
          <a:p>
            <a:pPr marL="342900" indent="-342900">
              <a:spcAft>
                <a:spcPts val="1200"/>
              </a:spcAft>
              <a:buSzPct val="100000"/>
              <a:buChar char="•"/>
            </a:pPr>
            <a:r>
              <a:rPr lang="en-US" sz="1600" b="1" dirty="0">
                <a:solidFill>
                  <a:schemeClr val="tx1"/>
                </a:solidFill>
              </a:rPr>
              <a:t>Self-Healing Networks:</a:t>
            </a:r>
            <a:pPr indent="0" marL="0">
              <a:buNone/>
            </a:pPr>
            <a:r>
              <a:rPr lang="en-US" sz="1600" dirty="0">
                <a:solidFill>
                  <a:schemeClr val="tx1"/>
                </a:solidFill>
              </a:rPr>
              <a:t> systems automatically fix vulnerabilities and recover from attacks</a:t>
            </a:r>
            <a:endParaRPr lang="en-US" sz="1600" dirty="0"/>
          </a:p>
          <a:p>
            <a:pPr marL="342900" indent="-342900">
              <a:spcAft>
                <a:spcPts val="1200"/>
              </a:spcAft>
              <a:buSzPct val="100000"/>
              <a:buChar char="•"/>
            </a:pPr>
            <a:r>
              <a:rPr lang="en-US" sz="1600" b="1" dirty="0">
                <a:solidFill>
                  <a:schemeClr val="tx1"/>
                </a:solidFill>
              </a:rPr>
              <a:t>Smarter collaboration:</a:t>
            </a:r>
            <a:pPr indent="0" marL="0">
              <a:buNone/>
            </a:pPr>
            <a:r>
              <a:rPr lang="en-US" sz="1600" dirty="0">
                <a:solidFill>
                  <a:schemeClr val="tx1"/>
                </a:solidFill>
              </a:rPr>
              <a:t> AI works alongside human analysts, not instead of them</a:t>
            </a:r>
            <a:endParaRPr lang="en-US" sz="1600" dirty="0"/>
          </a:p>
          <a:p>
            <a:pPr marL="342900" indent="-342900">
              <a:spcAft>
                <a:spcPts val="1200"/>
              </a:spcAft>
              <a:buSzPct val="100000"/>
              <a:buChar char="•"/>
            </a:pPr>
            <a:r>
              <a:rPr lang="en-US" sz="1600" b="1" dirty="0">
                <a:solidFill>
                  <a:schemeClr val="tx1"/>
                </a:solidFill>
              </a:rPr>
              <a:t>Growing need</a:t>
            </a:r>
            <a:pPr indent="0" marL="0">
              <a:buNone/>
            </a:pPr>
            <a:r>
              <a:rPr lang="en-US" sz="1600" dirty="0">
                <a:solidFill>
                  <a:schemeClr val="tx1"/>
                </a:solidFill>
              </a:rPr>
              <a:t> for skilled cybersecurity professionals who understand AI</a:t>
            </a:r>
            <a:endParaRPr lang="en-US" sz="1600" dirty="0"/>
          </a:p>
        </p:txBody>
      </p:sp>
      <p:sp>
        <p:nvSpPr>
          <p:cNvPr id="4" name="visual panel"/>
          <p:cNvSpPr/>
          <p:nvPr/>
        </p:nvSpPr>
        <p:spPr>
          <a:xfrm>
            <a:off x="5394960" y="1417320"/>
            <a:ext cx="3200400" cy="3246120"/>
          </a:xfrm>
          <a:prstGeom prst="roundRect">
            <a:avLst>
              <a:gd name="adj" fmla="val 4286"/>
            </a:avLst>
          </a:prstGeom>
          <a:solidFill>
            <a:schemeClr val="bg2"/>
          </a:solidFill>
          <a:ln w="12700">
            <a:solidFill>
              <a:schemeClr val="bg2"/>
            </a:solidFill>
            <a:prstDash val="solid"/>
          </a:ln>
        </p:spPr>
      </p:sp>
      <p:sp>
        <p:nvSpPr>
          <p:cNvPr id="5" name="flow step 1"/>
          <p:cNvSpPr/>
          <p:nvPr/>
        </p:nvSpPr>
        <p:spPr>
          <a:xfrm>
            <a:off x="5760720" y="1691640"/>
            <a:ext cx="2468880" cy="731520"/>
          </a:xfrm>
          <a:prstGeom prst="roundRect">
            <a:avLst>
              <a:gd name="adj" fmla="val 12500"/>
            </a:avLst>
          </a:prstGeom>
          <a:solidFill>
            <a:schemeClr val="tx2"/>
          </a:solidFill>
          <a:ln/>
        </p:spPr>
        <p:txBody>
          <a:bodyPr wrap="square" lIns="50800" tIns="50800" rIns="50800" bIns="50800" rtlCol="0" anchor="ctr"/>
          <a:lstStyle/>
          <a:p>
            <a:pPr algn="ctr" indent="0" marL="0">
              <a:buNone/>
            </a:pPr>
            <a:r>
              <a:rPr lang="en-US" sz="1400" b="1" dirty="0">
                <a:solidFill>
                  <a:schemeClr val="bg1"/>
                </a:solidFill>
              </a:rPr>
              <a:t>Reactive: respond after an attack</a:t>
            </a:r>
            <a:endParaRPr lang="en-US" sz="1400" dirty="0"/>
          </a:p>
        </p:txBody>
      </p:sp>
      <p:sp>
        <p:nvSpPr>
          <p:cNvPr id="6" name="arrow"/>
          <p:cNvSpPr/>
          <p:nvPr/>
        </p:nvSpPr>
        <p:spPr>
          <a:xfrm>
            <a:off x="6858000" y="2505456"/>
            <a:ext cx="274320" cy="201168"/>
          </a:xfrm>
          <a:prstGeom prst="downArrow">
            <a:avLst/>
          </a:prstGeom>
          <a:solidFill>
            <a:schemeClr val="accent1"/>
          </a:solidFill>
          <a:ln w="12700">
            <a:solidFill>
              <a:schemeClr val="accent1"/>
            </a:solidFill>
            <a:prstDash val="solid"/>
          </a:ln>
        </p:spPr>
      </p:sp>
      <p:sp>
        <p:nvSpPr>
          <p:cNvPr id="7" name="flow step 2"/>
          <p:cNvSpPr/>
          <p:nvPr/>
        </p:nvSpPr>
        <p:spPr>
          <a:xfrm>
            <a:off x="5760720" y="2788920"/>
            <a:ext cx="2468880" cy="731520"/>
          </a:xfrm>
          <a:prstGeom prst="roundRect">
            <a:avLst>
              <a:gd name="adj" fmla="val 12500"/>
            </a:avLst>
          </a:prstGeom>
          <a:solidFill>
            <a:schemeClr val="accent4"/>
          </a:solidFill>
          <a:ln/>
        </p:spPr>
        <p:txBody>
          <a:bodyPr wrap="square" lIns="50800" tIns="50800" rIns="50800" bIns="50800" rtlCol="0" anchor="ctr"/>
          <a:lstStyle/>
          <a:p>
            <a:pPr algn="ctr" indent="0" marL="0">
              <a:buNone/>
            </a:pPr>
            <a:r>
              <a:rPr lang="en-US" sz="1400" b="1" dirty="0">
                <a:solidFill>
                  <a:schemeClr val="bg1"/>
                </a:solidFill>
              </a:rPr>
              <a:t>Proactive: spot threats early</a:t>
            </a:r>
            <a:endParaRPr lang="en-US" sz="1400" dirty="0"/>
          </a:p>
        </p:txBody>
      </p:sp>
      <p:sp>
        <p:nvSpPr>
          <p:cNvPr id="8" name="arrow"/>
          <p:cNvSpPr/>
          <p:nvPr/>
        </p:nvSpPr>
        <p:spPr>
          <a:xfrm>
            <a:off x="6858000" y="3602736"/>
            <a:ext cx="274320" cy="201168"/>
          </a:xfrm>
          <a:prstGeom prst="downArrow">
            <a:avLst/>
          </a:prstGeom>
          <a:solidFill>
            <a:schemeClr val="accent1"/>
          </a:solidFill>
          <a:ln w="12700">
            <a:solidFill>
              <a:schemeClr val="accent1"/>
            </a:solidFill>
            <a:prstDash val="solid"/>
          </a:ln>
        </p:spPr>
      </p:sp>
      <p:sp>
        <p:nvSpPr>
          <p:cNvPr id="9" name="flow step 3"/>
          <p:cNvSpPr/>
          <p:nvPr/>
        </p:nvSpPr>
        <p:spPr>
          <a:xfrm>
            <a:off x="5760720" y="3886200"/>
            <a:ext cx="2468880" cy="731520"/>
          </a:xfrm>
          <a:prstGeom prst="roundRect">
            <a:avLst>
              <a:gd name="adj" fmla="val 12500"/>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Predictive: forecast and self-heal</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914400"/>
          </a:xfrm>
          <a:prstGeom prst="rect">
            <a:avLst/>
          </a:prstGeom>
          <a:noFill/>
          <a:ln/>
        </p:spPr>
        <p:txBody>
          <a:bodyPr wrap="square" lIns="0" tIns="0" rIns="0" bIns="0" rtlCol="0" anchor="ctr"/>
          <a:lstStyle/>
          <a:p>
            <a:pPr algn="l" indent="0" marL="0">
              <a:buNone/>
            </a:pPr>
            <a:r>
              <a:rPr lang="en-US" sz="2600" b="1" dirty="0">
                <a:solidFill>
                  <a:schemeClr val="bg1"/>
                </a:solidFill>
              </a:rPr>
              <a:t>Conclusion &amp; Q&amp;A</a:t>
            </a:r>
            <a:endParaRPr lang="en-US" sz="2600" dirty="0"/>
          </a:p>
        </p:txBody>
      </p:sp>
      <p:sp>
        <p:nvSpPr>
          <p:cNvPr id="3" name="key points"/>
          <p:cNvSpPr txBox="1"/>
          <p:nvPr/>
        </p:nvSpPr>
        <p:spPr>
          <a:xfrm>
            <a:off x="548640" y="1417320"/>
            <a:ext cx="4572000" cy="3246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bg1"/>
                </a:solidFill>
              </a:rPr>
              <a:t>AI strengthens defense</a:t>
            </a:r>
            <a:pPr indent="0" marL="0">
              <a:buNone/>
            </a:pPr>
            <a:r>
              <a:rPr lang="en-US" sz="1600" dirty="0">
                <a:solidFill>
                  <a:schemeClr val="bg1"/>
                </a:solidFill>
              </a:rPr>
              <a:t> by detecting unknown threats and responding in real time</a:t>
            </a:r>
            <a:endParaRPr lang="en-US" sz="1600" dirty="0"/>
          </a:p>
          <a:p>
            <a:pPr marL="342900" indent="-342900">
              <a:spcAft>
                <a:spcPts val="1200"/>
              </a:spcAft>
              <a:buSzPct val="100000"/>
              <a:buChar char="•"/>
            </a:pPr>
            <a:r>
              <a:rPr lang="en-US" sz="1600" b="1" dirty="0">
                <a:solidFill>
                  <a:schemeClr val="bg1"/>
                </a:solidFill>
              </a:rPr>
              <a:t>Key technologies:</a:t>
            </a:r>
            <a:pPr indent="0" marL="0">
              <a:buNone/>
            </a:pPr>
            <a:r>
              <a:rPr lang="en-US" sz="1600" dirty="0">
                <a:solidFill>
                  <a:schemeClr val="bg1"/>
                </a:solidFill>
              </a:rPr>
              <a:t> ML, anomaly detection (UEBA), SOAR and SIEM integration</a:t>
            </a:r>
            <a:endParaRPr lang="en-US" sz="1600" dirty="0"/>
          </a:p>
          <a:p>
            <a:pPr marL="342900" indent="-342900">
              <a:spcAft>
                <a:spcPts val="1200"/>
              </a:spcAft>
              <a:buSzPct val="100000"/>
              <a:buChar char="•"/>
            </a:pPr>
            <a:r>
              <a:rPr lang="en-US" sz="1600" b="1" dirty="0">
                <a:solidFill>
                  <a:schemeClr val="bg1"/>
                </a:solidFill>
              </a:rPr>
              <a:t>Challenges remain,</a:t>
            </a:r>
            <a:pPr indent="0" marL="0">
              <a:buNone/>
            </a:pPr>
            <a:r>
              <a:rPr lang="en-US" sz="1600" dirty="0">
                <a:solidFill>
                  <a:schemeClr val="bg1"/>
                </a:solidFill>
              </a:rPr>
              <a:t> including poisoned data, adversarial attacks and false alarms</a:t>
            </a:r>
            <a:endParaRPr lang="en-US" sz="1600" dirty="0"/>
          </a:p>
          <a:p>
            <a:pPr marL="342900" indent="-342900">
              <a:spcAft>
                <a:spcPts val="1200"/>
              </a:spcAft>
              <a:buSzPct val="100000"/>
              <a:buChar char="•"/>
            </a:pPr>
            <a:r>
              <a:rPr lang="en-US" sz="1600" b="1" dirty="0">
                <a:solidFill>
                  <a:schemeClr val="bg1"/>
                </a:solidFill>
              </a:rPr>
              <a:t>Best approach:</a:t>
            </a:r>
            <a:pPr indent="0" marL="0">
              <a:buNone/>
            </a:pPr>
            <a:r>
              <a:rPr lang="en-US" sz="1600" dirty="0">
                <a:solidFill>
                  <a:schemeClr val="bg1"/>
                </a:solidFill>
              </a:rPr>
              <a:t> combine AI speed with human judgment</a:t>
            </a:r>
            <a:endParaRPr lang="en-US" sz="1600" dirty="0"/>
          </a:p>
        </p:txBody>
      </p:sp>
      <p:sp>
        <p:nvSpPr>
          <p:cNvPr id="4" name="shield circle"/>
          <p:cNvSpPr/>
          <p:nvPr/>
        </p:nvSpPr>
        <p:spPr>
          <a:xfrm>
            <a:off x="6309360" y="1463040"/>
            <a:ext cx="1371600" cy="1371600"/>
          </a:xfrm>
          <a:prstGeom prst="ellipse">
            <a:avLst/>
          </a:prstGeom>
          <a:solidFill>
            <a:schemeClr val="accent1"/>
          </a:solidFill>
          <a:ln w="38100">
            <a:solidFill>
              <a:schemeClr val="accent6"/>
            </a:solidFill>
            <a:prstDash val="solid"/>
          </a:ln>
        </p:spPr>
      </p:sp>
      <p:pic>
        <p:nvPicPr>
          <p:cNvPr id="5" name="Image 0" descr="Shield icon">    </p:cNvPr>
          <p:cNvPicPr>
            <a:picLocks noChangeAspect="1"/>
          </p:cNvPicPr>
          <p:nvPr/>
        </p:nvPicPr>
        <p:blipFill>
          <a:blip r:embed="rId1"/>
          <a:stretch>
            <a:fillRect/>
          </a:stretch>
        </p:blipFill>
        <p:spPr>
          <a:xfrm>
            <a:off x="6675120" y="1828800"/>
            <a:ext cx="640080" cy="640080"/>
          </a:xfrm>
          <a:prstGeom prst="rect">
            <a:avLst/>
          </a:prstGeom>
        </p:spPr>
      </p:pic>
      <p:sp>
        <p:nvSpPr>
          <p:cNvPr id="6" name="thank you"/>
          <p:cNvSpPr txBox="1"/>
          <p:nvPr/>
        </p:nvSpPr>
        <p:spPr>
          <a:xfrm>
            <a:off x="5394960" y="3017520"/>
            <a:ext cx="3200400" cy="548640"/>
          </a:xfrm>
          <a:prstGeom prst="rect">
            <a:avLst/>
          </a:prstGeom>
          <a:noFill/>
          <a:ln/>
        </p:spPr>
        <p:txBody>
          <a:bodyPr wrap="square" lIns="0" tIns="0" rIns="0" bIns="0" rtlCol="0" anchor="ctr"/>
          <a:lstStyle/>
          <a:p>
            <a:pPr algn="ctr" indent="0" marL="0">
              <a:buNone/>
            </a:pPr>
            <a:r>
              <a:rPr lang="en-US" sz="3000" b="1" dirty="0">
                <a:solidFill>
                  <a:schemeClr val="bg1"/>
                </a:solidFill>
              </a:rPr>
              <a:t>Thank you</a:t>
            </a:r>
            <a:endParaRPr lang="en-US" sz="3000" dirty="0"/>
          </a:p>
        </p:txBody>
      </p:sp>
      <p:sp>
        <p:nvSpPr>
          <p:cNvPr id="7" name="questions"/>
          <p:cNvSpPr txBox="1"/>
          <p:nvPr/>
        </p:nvSpPr>
        <p:spPr>
          <a:xfrm>
            <a:off x="5394960" y="3611880"/>
            <a:ext cx="3200400" cy="457200"/>
          </a:xfrm>
          <a:prstGeom prst="rect">
            <a:avLst/>
          </a:prstGeom>
          <a:noFill/>
          <a:ln/>
        </p:spPr>
        <p:txBody>
          <a:bodyPr wrap="square" lIns="0" tIns="0" rIns="0" bIns="0" rtlCol="0" anchor="ctr"/>
          <a:lstStyle/>
          <a:p>
            <a:pPr algn="ctr" indent="0" marL="0">
              <a:buNone/>
            </a:pPr>
            <a:r>
              <a:rPr lang="en-US" sz="2000" dirty="0">
                <a:solidFill>
                  <a:schemeClr val="accent6"/>
                </a:solidFill>
              </a:rPr>
              <a:t>Any questions?</a:t>
            </a:r>
            <a:endParaRPr lang="en-US" sz="20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yber Shield">
  <a:themeElements>
    <a:clrScheme name="Cyber Shield">
      <a:dk1>
        <a:srgbClr val="1F2937"/>
      </a:dk1>
      <a:lt1>
        <a:srgbClr val="FFFFFF"/>
      </a:lt1>
      <a:dk2>
        <a:srgbClr val="0B1F3A"/>
      </a:dk2>
      <a:lt2>
        <a:srgbClr val="EAF6F5"/>
      </a:lt2>
      <a:accent1>
        <a:srgbClr val="0D9488"/>
      </a:accent1>
      <a:accent2>
        <a:srgbClr val="D64545"/>
      </a:accent2>
      <a:accent3>
        <a:srgbClr val="F59E0B"/>
      </a:accent3>
      <a:accent4>
        <a:srgbClr val="0F766E"/>
      </a:accent4>
      <a:accent5>
        <a:srgbClr val="3B82F6"/>
      </a:accent5>
      <a:accent6>
        <a:srgbClr val="5EEAD4"/>
      </a:accent6>
      <a:hlink>
        <a:srgbClr val="0D9488"/>
      </a:hlink>
      <a:folHlink>
        <a:srgbClr val="0F766E"/>
      </a:folHlink>
    </a:clrScheme>
    <a:fontScheme name="Cyber 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as a Shield: How Machine Learning Protects Networks</dc:title>
  <dc:subject>PptxGenJS Presentation</dc:subject>
  <dc:creator>PptxGenJS</dc:creator>
  <cp:lastModifiedBy>PptxGenJS</cp:lastModifiedBy>
  <cp:revision>1</cp:revision>
  <dcterms:created xsi:type="dcterms:W3CDTF">2026-10-28T07:42:55Z</dcterms:created>
  <dcterms:modified xsi:type="dcterms:W3CDTF">2026-10-28T07:42:55Z</dcterms:modified>
</cp:coreProperties>
</file>